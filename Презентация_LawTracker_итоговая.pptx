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5143500" cx="9144000"/>
  <p:notesSz cx="6858000" cy="9144000"/>
  <p:embeddedFontLst>
    <p:embeddedFont>
      <p:font typeface="Raleway"/>
      <p:regular r:id="rId27"/>
      <p:bold r:id="rId28"/>
      <p:italic r:id="rId29"/>
      <p:boldItalic r:id="rId30"/>
    </p:embeddedFont>
    <p:embeddedFont>
      <p:font typeface="Raleway SemiBold"/>
      <p:regular r:id="rId31"/>
      <p:bold r:id="rId32"/>
      <p:italic r:id="rId33"/>
      <p:boldItalic r:id="rId34"/>
    </p:embeddedFont>
    <p:embeddedFont>
      <p:font typeface="Raleway Medium"/>
      <p:regular r:id="rId35"/>
      <p:bold r:id="rId36"/>
      <p:italic r:id="rId37"/>
      <p:boldItalic r:id="rId38"/>
    </p:embeddedFont>
    <p:embeddedFont>
      <p:font typeface="Helvetica Neue"/>
      <p:regular r:id="rId39"/>
      <p:bold r:id="rId40"/>
      <p:italic r:id="rId41"/>
      <p:boldItalic r:id="rId42"/>
    </p:embeddedFont>
    <p:embeddedFont>
      <p:font typeface="Century Gothic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47" roundtripDataSignature="AMtx7mjZNY4kOwdhXhKG3cg3uzY8K5aPQ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6C21C2-C43E-4445-9161-571DEF8E2397}">
  <a:tblStyle styleId="{856C21C2-C43E-4445-9161-571DEF8E23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C72D56B8-7595-4582-9F2E-E89A1C61815A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HelveticaNeue-bold.fntdata"/><Relationship Id="rId20" Type="http://schemas.openxmlformats.org/officeDocument/2006/relationships/slide" Target="slides/slide14.xml"/><Relationship Id="rId42" Type="http://schemas.openxmlformats.org/officeDocument/2006/relationships/font" Target="fonts/HelveticaNeue-boldItalic.fntdata"/><Relationship Id="rId41" Type="http://schemas.openxmlformats.org/officeDocument/2006/relationships/font" Target="fonts/HelveticaNeue-italic.fntdata"/><Relationship Id="rId22" Type="http://schemas.openxmlformats.org/officeDocument/2006/relationships/slide" Target="slides/slide16.xml"/><Relationship Id="rId44" Type="http://schemas.openxmlformats.org/officeDocument/2006/relationships/font" Target="fonts/CenturyGothic-bold.fntdata"/><Relationship Id="rId21" Type="http://schemas.openxmlformats.org/officeDocument/2006/relationships/slide" Target="slides/slide15.xml"/><Relationship Id="rId43" Type="http://schemas.openxmlformats.org/officeDocument/2006/relationships/font" Target="fonts/CenturyGothic-regular.fntdata"/><Relationship Id="rId24" Type="http://schemas.openxmlformats.org/officeDocument/2006/relationships/slide" Target="slides/slide18.xml"/><Relationship Id="rId46" Type="http://schemas.openxmlformats.org/officeDocument/2006/relationships/font" Target="fonts/CenturyGothic-boldItalic.fntdata"/><Relationship Id="rId23" Type="http://schemas.openxmlformats.org/officeDocument/2006/relationships/slide" Target="slides/slide17.xml"/><Relationship Id="rId45" Type="http://schemas.openxmlformats.org/officeDocument/2006/relationships/font" Target="fonts/CenturyGothic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7" Type="http://customschemas.google.com/relationships/presentationmetadata" Target="metadata"/><Relationship Id="rId28" Type="http://schemas.openxmlformats.org/officeDocument/2006/relationships/font" Target="fonts/Raleway-bold.fntdata"/><Relationship Id="rId27" Type="http://schemas.openxmlformats.org/officeDocument/2006/relationships/font" Target="fonts/Raleway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aleway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alewaySemiBold-regular.fntdata"/><Relationship Id="rId30" Type="http://schemas.openxmlformats.org/officeDocument/2006/relationships/font" Target="fonts/Raleway-boldItalic.fntdata"/><Relationship Id="rId11" Type="http://schemas.openxmlformats.org/officeDocument/2006/relationships/slide" Target="slides/slide5.xml"/><Relationship Id="rId33" Type="http://schemas.openxmlformats.org/officeDocument/2006/relationships/font" Target="fonts/RalewaySemiBold-italic.fntdata"/><Relationship Id="rId10" Type="http://schemas.openxmlformats.org/officeDocument/2006/relationships/slide" Target="slides/slide4.xml"/><Relationship Id="rId32" Type="http://schemas.openxmlformats.org/officeDocument/2006/relationships/font" Target="fonts/RalewaySemiBold-bold.fntdata"/><Relationship Id="rId35" Type="http://schemas.openxmlformats.org/officeDocument/2006/relationships/font" Target="fonts/RalewayMedium-regular.fntdata"/><Relationship Id="rId12" Type="http://schemas.openxmlformats.org/officeDocument/2006/relationships/slide" Target="slides/slide6.xml"/><Relationship Id="rId34" Type="http://schemas.openxmlformats.org/officeDocument/2006/relationships/font" Target="fonts/RalewaySemiBold-boldItalic.fntdata"/><Relationship Id="rId15" Type="http://schemas.openxmlformats.org/officeDocument/2006/relationships/slide" Target="slides/slide9.xml"/><Relationship Id="rId37" Type="http://schemas.openxmlformats.org/officeDocument/2006/relationships/font" Target="fonts/RalewayMedium-italic.fntdata"/><Relationship Id="rId14" Type="http://schemas.openxmlformats.org/officeDocument/2006/relationships/slide" Target="slides/slide8.xml"/><Relationship Id="rId36" Type="http://schemas.openxmlformats.org/officeDocument/2006/relationships/font" Target="fonts/RalewayMedium-bold.fntdata"/><Relationship Id="rId17" Type="http://schemas.openxmlformats.org/officeDocument/2006/relationships/slide" Target="slides/slide11.xml"/><Relationship Id="rId39" Type="http://schemas.openxmlformats.org/officeDocument/2006/relationships/font" Target="fonts/HelveticaNeue-regular.fntdata"/><Relationship Id="rId16" Type="http://schemas.openxmlformats.org/officeDocument/2006/relationships/slide" Target="slides/slide10.xml"/><Relationship Id="rId38" Type="http://schemas.openxmlformats.org/officeDocument/2006/relationships/font" Target="fonts/RalewayMedium-bold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23913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9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p11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p14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123914" y="685497"/>
            <a:ext cx="66111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2"/>
          <p:cNvSpPr txBox="1"/>
          <p:nvPr>
            <p:ph type="title"/>
          </p:nvPr>
        </p:nvSpPr>
        <p:spPr>
          <a:xfrm>
            <a:off x="456817" y="1257881"/>
            <a:ext cx="46557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00FF"/>
              </a:buClr>
              <a:buSzPts val="2700"/>
              <a:buFont typeface="Raleway SemiBold"/>
              <a:buNone/>
              <a:defRPr b="0">
                <a:solidFill>
                  <a:srgbClr val="8F00FF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Raleway SemiBold"/>
              <a:buNone/>
              <a:defRPr sz="3600">
                <a:latin typeface="Raleway SemiBold"/>
                <a:ea typeface="Raleway SemiBold"/>
                <a:cs typeface="Raleway SemiBold"/>
                <a:sym typeface="Raleway SemiBold"/>
              </a:defRPr>
            </a:lvl9pPr>
          </a:lstStyle>
          <a:p/>
        </p:txBody>
      </p:sp>
      <p:sp>
        <p:nvSpPr>
          <p:cNvPr id="16" name="Google Shape;16;p22"/>
          <p:cNvSpPr txBox="1"/>
          <p:nvPr>
            <p:ph idx="1" type="body"/>
          </p:nvPr>
        </p:nvSpPr>
        <p:spPr>
          <a:xfrm>
            <a:off x="456818" y="2340281"/>
            <a:ext cx="79932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7" name="Google Shape;17;p22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" name="Google Shape;18;p22"/>
          <p:cNvSpPr/>
          <p:nvPr/>
        </p:nvSpPr>
        <p:spPr>
          <a:xfrm>
            <a:off x="2877463" y="149325"/>
            <a:ext cx="1472700" cy="352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" sz="14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ЛОГО ВУЗА</a:t>
            </a:r>
            <a:endParaRPr b="0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">
          <p15:clr>
            <a:srgbClr val="E46962"/>
          </p15:clr>
        </p15:guide>
        <p15:guide id="2" orient="horz" pos="800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3"/>
          <p:cNvSpPr txBox="1"/>
          <p:nvPr>
            <p:ph type="title"/>
          </p:nvPr>
        </p:nvSpPr>
        <p:spPr>
          <a:xfrm>
            <a:off x="432332" y="445031"/>
            <a:ext cx="7976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 SemiBold"/>
              <a:buNone/>
              <a:defRPr b="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" type="body"/>
          </p:nvPr>
        </p:nvSpPr>
        <p:spPr>
          <a:xfrm>
            <a:off x="432332" y="1152469"/>
            <a:ext cx="840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2" name="Google Shape;22;p23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E46962"/>
          </p15:clr>
        </p15:guide>
        <p15:guide id="2" pos="272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/>
          <p:nvPr>
            <p:ph type="ctrTitle"/>
          </p:nvPr>
        </p:nvSpPr>
        <p:spPr>
          <a:xfrm>
            <a:off x="441819" y="1465988"/>
            <a:ext cx="3813600" cy="117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None/>
              <a:defRPr sz="3000">
                <a:solidFill>
                  <a:srgbClr val="9900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FF"/>
              </a:buClr>
              <a:buSzPts val="3000"/>
              <a:buFont typeface="Raleway"/>
              <a:buNone/>
              <a:defRPr b="1" sz="3000">
                <a:solidFill>
                  <a:srgbClr val="9900FF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5" name="Google Shape;25;p24"/>
          <p:cNvSpPr txBox="1"/>
          <p:nvPr>
            <p:ph idx="1" type="subTitle"/>
          </p:nvPr>
        </p:nvSpPr>
        <p:spPr>
          <a:xfrm>
            <a:off x="441819" y="2812219"/>
            <a:ext cx="4269300" cy="21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Font typeface="Raleway"/>
              <a:buNone/>
              <a:defRPr sz="17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26" name="Google Shape;26;p24"/>
          <p:cNvSpPr txBox="1"/>
          <p:nvPr>
            <p:ph idx="12" type="sldNum"/>
          </p:nvPr>
        </p:nvSpPr>
        <p:spPr>
          <a:xfrm>
            <a:off x="-106904" y="4724286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7" name="Google Shape;27;p24"/>
          <p:cNvSpPr txBox="1"/>
          <p:nvPr/>
        </p:nvSpPr>
        <p:spPr>
          <a:xfrm>
            <a:off x="545478" y="3499856"/>
            <a:ext cx="4044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78">
          <p15:clr>
            <a:srgbClr val="E46962"/>
          </p15:clr>
        </p15:guide>
        <p15:guide id="2" orient="horz" pos="923">
          <p15:clr>
            <a:srgbClr val="E46962"/>
          </p15:clr>
        </p15:guide>
        <p15:guide id="3" pos="2968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аш макет 1">
  <p:cSld name="CUSTOM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5"/>
          <p:cNvSpPr txBox="1"/>
          <p:nvPr>
            <p:ph type="title"/>
          </p:nvPr>
        </p:nvSpPr>
        <p:spPr>
          <a:xfrm>
            <a:off x="432332" y="1957500"/>
            <a:ext cx="6181800" cy="13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b="0" sz="30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9pPr>
          </a:lstStyle>
          <a:p/>
        </p:txBody>
      </p:sp>
      <p:sp>
        <p:nvSpPr>
          <p:cNvPr id="30" name="Google Shape;30;p25"/>
          <p:cNvSpPr/>
          <p:nvPr/>
        </p:nvSpPr>
        <p:spPr>
          <a:xfrm>
            <a:off x="432332" y="1258838"/>
            <a:ext cx="1038900" cy="5151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31" name="Google Shape;31;p25"/>
          <p:cNvSpPr txBox="1"/>
          <p:nvPr>
            <p:ph idx="2" type="title"/>
          </p:nvPr>
        </p:nvSpPr>
        <p:spPr>
          <a:xfrm>
            <a:off x="432332" y="1221750"/>
            <a:ext cx="6181800" cy="8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Raleway SemiBold"/>
              <a:buNone/>
              <a:defRPr b="0" sz="22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Raleway SemiBold"/>
              <a:buNone/>
              <a:defRPr sz="3000">
                <a:latin typeface="Raleway SemiBold"/>
                <a:ea typeface="Raleway SemiBold"/>
                <a:cs typeface="Raleway SemiBold"/>
                <a:sym typeface="Raleway SemiBold"/>
              </a:defRPr>
            </a:lvl9pPr>
          </a:lstStyle>
          <a:p/>
        </p:txBody>
      </p:sp>
      <p:sp>
        <p:nvSpPr>
          <p:cNvPr id="32" name="Google Shape;32;p25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72">
          <p15:clr>
            <a:srgbClr val="E46962"/>
          </p15:clr>
        </p15:guide>
        <p15:guide id="2" orient="horz" pos="79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6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132C40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8300" lIns="58300" spcFirstLastPara="1" rIns="58300" wrap="square" tIns="583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1_Title and bod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8"/>
          <p:cNvSpPr txBox="1"/>
          <p:nvPr>
            <p:ph type="title"/>
          </p:nvPr>
        </p:nvSpPr>
        <p:spPr>
          <a:xfrm>
            <a:off x="311700" y="154338"/>
            <a:ext cx="85206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28"/>
          <p:cNvSpPr txBox="1"/>
          <p:nvPr>
            <p:ph idx="1" type="body"/>
          </p:nvPr>
        </p:nvSpPr>
        <p:spPr>
          <a:xfrm>
            <a:off x="311700" y="801407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8"/>
          <p:cNvSpPr txBox="1"/>
          <p:nvPr>
            <p:ph idx="12" type="sldNum"/>
          </p:nvPr>
        </p:nvSpPr>
        <p:spPr>
          <a:xfrm>
            <a:off x="8117013" y="4869477"/>
            <a:ext cx="7902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9150" lIns="58300" spcFirstLastPara="1" rIns="58300" wrap="square" tIns="2915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descr="E:\-=Tanya=-\2035 Работа\-=Айдентика 2035=-\лого университета\Univer20_35_RGB.emf" id="41" name="Google Shape;41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9083" y="242441"/>
            <a:ext cx="453132" cy="224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1_Title and body 2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29"/>
          <p:cNvPicPr preferRelativeResize="0"/>
          <p:nvPr/>
        </p:nvPicPr>
        <p:blipFill rotWithShape="1">
          <a:blip r:embed="rId2">
            <a:alphaModFix/>
          </a:blip>
          <a:srcRect b="4320" l="0" r="2181" t="1756"/>
          <a:stretch/>
        </p:blipFill>
        <p:spPr>
          <a:xfrm>
            <a:off x="5397690" y="0"/>
            <a:ext cx="3746309" cy="5143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29"/>
          <p:cNvPicPr preferRelativeResize="0"/>
          <p:nvPr/>
        </p:nvPicPr>
        <p:blipFill rotWithShape="1">
          <a:blip r:embed="rId3">
            <a:alphaModFix amt="32000"/>
          </a:blip>
          <a:srcRect b="0" l="0" r="0" t="0"/>
          <a:stretch/>
        </p:blipFill>
        <p:spPr>
          <a:xfrm>
            <a:off x="132603" y="4283434"/>
            <a:ext cx="1314430" cy="79792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9"/>
          <p:cNvSpPr txBox="1"/>
          <p:nvPr>
            <p:ph type="title"/>
          </p:nvPr>
        </p:nvSpPr>
        <p:spPr>
          <a:xfrm>
            <a:off x="311700" y="154338"/>
            <a:ext cx="64848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6" name="Google Shape;46;p29"/>
          <p:cNvSpPr txBox="1"/>
          <p:nvPr>
            <p:ph idx="1" type="body"/>
          </p:nvPr>
        </p:nvSpPr>
        <p:spPr>
          <a:xfrm>
            <a:off x="311700" y="801407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9"/>
          <p:cNvSpPr txBox="1"/>
          <p:nvPr>
            <p:ph idx="12" type="sldNum"/>
          </p:nvPr>
        </p:nvSpPr>
        <p:spPr>
          <a:xfrm>
            <a:off x="8117013" y="4869477"/>
            <a:ext cx="7902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9150" lIns="58300" spcFirstLastPara="1" rIns="58300" wrap="square" tIns="2915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descr="E:\-=Tanya=-\2035 Работа\-=Айдентика 2035=-\лого университета\Univer20_35_RGB.emf" id="48" name="Google Shape;48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69083" y="242441"/>
            <a:ext cx="453132" cy="224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1_Title and body 3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0">
            <a:off x="391827" y="-157074"/>
            <a:ext cx="1277952" cy="1827647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30"/>
          <p:cNvSpPr txBox="1"/>
          <p:nvPr>
            <p:ph type="title"/>
          </p:nvPr>
        </p:nvSpPr>
        <p:spPr>
          <a:xfrm>
            <a:off x="311700" y="154338"/>
            <a:ext cx="85206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" type="body"/>
          </p:nvPr>
        </p:nvSpPr>
        <p:spPr>
          <a:xfrm>
            <a:off x="311700" y="801407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30"/>
          <p:cNvSpPr txBox="1"/>
          <p:nvPr>
            <p:ph idx="12" type="sldNum"/>
          </p:nvPr>
        </p:nvSpPr>
        <p:spPr>
          <a:xfrm>
            <a:off x="8117013" y="4869477"/>
            <a:ext cx="7902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9150" lIns="58300" spcFirstLastPara="1" rIns="58300" wrap="square" tIns="2915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descr="E:\-=Tanya=-\2035 Работа\-=Айдентика 2035=-\лого университета\Univer20_35_RGB.emf" id="54" name="Google Shape;5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69083" y="242441"/>
            <a:ext cx="453132" cy="224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100"/>
            </a:lvl2pPr>
            <a:lvl3pPr indent="-304800" lvl="2" marL="1371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100"/>
            </a:lvl3pPr>
            <a:lvl4pPr indent="-304800" lvl="3" marL="18288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100"/>
            </a:lvl4pPr>
            <a:lvl5pPr indent="-304800" lvl="4" marL="22860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100"/>
            </a:lvl5pPr>
            <a:lvl6pPr indent="-304800" lvl="5" marL="27432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100"/>
            </a:lvl6pPr>
            <a:lvl7pPr indent="-304800" lvl="6" marL="3200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100"/>
            </a:lvl7pPr>
            <a:lvl8pPr indent="-304800" lvl="7" marL="3657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100"/>
            </a:lvl8pPr>
            <a:lvl9pPr indent="-304800" lvl="8" marL="411480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200"/>
              <a:buChar char="■"/>
              <a:defRPr sz="1100"/>
            </a:lvl9pPr>
          </a:lstStyle>
          <a:p/>
        </p:txBody>
      </p:sp>
      <p:sp>
        <p:nvSpPr>
          <p:cNvPr id="58" name="Google Shape;58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100"/>
            </a:lvl2pPr>
            <a:lvl3pPr indent="-304800" lvl="2" marL="1371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100"/>
            </a:lvl3pPr>
            <a:lvl4pPr indent="-304800" lvl="3" marL="18288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100"/>
            </a:lvl4pPr>
            <a:lvl5pPr indent="-304800" lvl="4" marL="22860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100"/>
            </a:lvl5pPr>
            <a:lvl6pPr indent="-304800" lvl="5" marL="27432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100"/>
            </a:lvl6pPr>
            <a:lvl7pPr indent="-304800" lvl="6" marL="32004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100"/>
            </a:lvl7pPr>
            <a:lvl8pPr indent="-304800" lvl="7" marL="3657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100"/>
            </a:lvl8pPr>
            <a:lvl9pPr indent="-304800" lvl="8" marL="411480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200"/>
              <a:buChar char="■"/>
              <a:defRPr sz="1100"/>
            </a:lvl9pPr>
          </a:lstStyle>
          <a:p/>
        </p:txBody>
      </p:sp>
      <p:sp>
        <p:nvSpPr>
          <p:cNvPr id="59" name="Google Shape;59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8300" lIns="58300" spcFirstLastPara="1" rIns="58300" wrap="square" tIns="583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3C84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descr="E:\-=Tanya=-\2035 Работа\-=Айдентика 2035=-\лого университета\Univer20_35_RGB.emf" id="60" name="Google Shape;60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9083" y="242441"/>
            <a:ext cx="453132" cy="224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showMasterSp="0">
  <p:cSld name="Two Content">
    <p:bg>
      <p:bgPr>
        <a:solidFill>
          <a:schemeClr val="lt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2"/>
          <p:cNvSpPr/>
          <p:nvPr/>
        </p:nvSpPr>
        <p:spPr>
          <a:xfrm>
            <a:off x="4572972" y="4926413"/>
            <a:ext cx="915025" cy="216982"/>
          </a:xfrm>
          <a:custGeom>
            <a:rect b="b" l="l" r="r" t="t"/>
            <a:pathLst>
              <a:path extrusionOk="0" h="476884" w="2011045">
                <a:moveTo>
                  <a:pt x="2010619" y="0"/>
                </a:moveTo>
                <a:lnTo>
                  <a:pt x="0" y="0"/>
                </a:lnTo>
                <a:lnTo>
                  <a:pt x="0" y="476529"/>
                </a:lnTo>
                <a:lnTo>
                  <a:pt x="2010619" y="476529"/>
                </a:lnTo>
                <a:lnTo>
                  <a:pt x="2010619" y="0"/>
                </a:lnTo>
                <a:close/>
              </a:path>
            </a:pathLst>
          </a:custGeom>
          <a:solidFill>
            <a:srgbClr val="FCAF17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2"/>
          <p:cNvSpPr/>
          <p:nvPr/>
        </p:nvSpPr>
        <p:spPr>
          <a:xfrm>
            <a:off x="5487462" y="4926413"/>
            <a:ext cx="915025" cy="216982"/>
          </a:xfrm>
          <a:custGeom>
            <a:rect b="b" l="l" r="r" t="t"/>
            <a:pathLst>
              <a:path extrusionOk="0" h="476884" w="2011044">
                <a:moveTo>
                  <a:pt x="2010619" y="0"/>
                </a:moveTo>
                <a:lnTo>
                  <a:pt x="0" y="0"/>
                </a:lnTo>
                <a:lnTo>
                  <a:pt x="0" y="476529"/>
                </a:lnTo>
                <a:lnTo>
                  <a:pt x="2010619" y="476529"/>
                </a:lnTo>
                <a:lnTo>
                  <a:pt x="2010619" y="0"/>
                </a:lnTo>
                <a:close/>
              </a:path>
            </a:pathLst>
          </a:custGeom>
          <a:solidFill>
            <a:srgbClr val="F4A1B3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32"/>
          <p:cNvSpPr/>
          <p:nvPr/>
        </p:nvSpPr>
        <p:spPr>
          <a:xfrm>
            <a:off x="7316457" y="4926413"/>
            <a:ext cx="915025" cy="216982"/>
          </a:xfrm>
          <a:custGeom>
            <a:rect b="b" l="l" r="r" t="t"/>
            <a:pathLst>
              <a:path extrusionOk="0" h="476884" w="2011044">
                <a:moveTo>
                  <a:pt x="2010629" y="0"/>
                </a:moveTo>
                <a:lnTo>
                  <a:pt x="0" y="0"/>
                </a:lnTo>
                <a:lnTo>
                  <a:pt x="0" y="476529"/>
                </a:lnTo>
                <a:lnTo>
                  <a:pt x="2010629" y="476529"/>
                </a:lnTo>
                <a:lnTo>
                  <a:pt x="2010629" y="0"/>
                </a:lnTo>
                <a:close/>
              </a:path>
            </a:pathLst>
          </a:custGeom>
          <a:solidFill>
            <a:srgbClr val="B5D8E1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2"/>
          <p:cNvSpPr/>
          <p:nvPr/>
        </p:nvSpPr>
        <p:spPr>
          <a:xfrm>
            <a:off x="8230948" y="4926413"/>
            <a:ext cx="913580" cy="216982"/>
          </a:xfrm>
          <a:custGeom>
            <a:rect b="b" l="l" r="r" t="t"/>
            <a:pathLst>
              <a:path extrusionOk="0" h="476884" w="2007869">
                <a:moveTo>
                  <a:pt x="2007436" y="0"/>
                </a:moveTo>
                <a:lnTo>
                  <a:pt x="0" y="0"/>
                </a:lnTo>
                <a:lnTo>
                  <a:pt x="0" y="476529"/>
                </a:lnTo>
                <a:lnTo>
                  <a:pt x="2007436" y="476529"/>
                </a:lnTo>
                <a:lnTo>
                  <a:pt x="2007436" y="0"/>
                </a:lnTo>
                <a:close/>
              </a:path>
            </a:pathLst>
          </a:custGeom>
          <a:solidFill>
            <a:srgbClr val="8F00FF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2"/>
          <p:cNvSpPr/>
          <p:nvPr/>
        </p:nvSpPr>
        <p:spPr>
          <a:xfrm>
            <a:off x="2745905" y="4926413"/>
            <a:ext cx="915025" cy="216982"/>
          </a:xfrm>
          <a:custGeom>
            <a:rect b="b" l="l" r="r" t="t"/>
            <a:pathLst>
              <a:path extrusionOk="0" h="476884" w="2011045">
                <a:moveTo>
                  <a:pt x="2010619" y="0"/>
                </a:moveTo>
                <a:lnTo>
                  <a:pt x="0" y="0"/>
                </a:lnTo>
                <a:lnTo>
                  <a:pt x="0" y="476529"/>
                </a:lnTo>
                <a:lnTo>
                  <a:pt x="2010619" y="476529"/>
                </a:lnTo>
                <a:lnTo>
                  <a:pt x="2010619" y="0"/>
                </a:lnTo>
                <a:close/>
              </a:path>
            </a:pathLst>
          </a:custGeom>
          <a:solidFill>
            <a:srgbClr val="FCAF17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2"/>
          <p:cNvSpPr/>
          <p:nvPr/>
        </p:nvSpPr>
        <p:spPr>
          <a:xfrm>
            <a:off x="1830447" y="4926413"/>
            <a:ext cx="916181" cy="216982"/>
          </a:xfrm>
          <a:custGeom>
            <a:rect b="b" l="l" r="r" t="t"/>
            <a:pathLst>
              <a:path extrusionOk="0" h="476884" w="2013585">
                <a:moveTo>
                  <a:pt x="2013111" y="0"/>
                </a:moveTo>
                <a:lnTo>
                  <a:pt x="0" y="0"/>
                </a:lnTo>
                <a:lnTo>
                  <a:pt x="0" y="476529"/>
                </a:lnTo>
                <a:lnTo>
                  <a:pt x="2013111" y="476529"/>
                </a:lnTo>
                <a:lnTo>
                  <a:pt x="2013111" y="0"/>
                </a:lnTo>
                <a:close/>
              </a:path>
            </a:pathLst>
          </a:custGeom>
          <a:solidFill>
            <a:srgbClr val="FBB3C1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2"/>
          <p:cNvSpPr/>
          <p:nvPr/>
        </p:nvSpPr>
        <p:spPr>
          <a:xfrm>
            <a:off x="915952" y="4926413"/>
            <a:ext cx="915025" cy="216982"/>
          </a:xfrm>
          <a:custGeom>
            <a:rect b="b" l="l" r="r" t="t"/>
            <a:pathLst>
              <a:path extrusionOk="0" h="476884" w="2011045">
                <a:moveTo>
                  <a:pt x="2010629" y="0"/>
                </a:moveTo>
                <a:lnTo>
                  <a:pt x="0" y="0"/>
                </a:lnTo>
                <a:lnTo>
                  <a:pt x="0" y="476529"/>
                </a:lnTo>
                <a:lnTo>
                  <a:pt x="2010629" y="476529"/>
                </a:lnTo>
                <a:lnTo>
                  <a:pt x="2010629" y="0"/>
                </a:lnTo>
                <a:close/>
              </a:path>
            </a:pathLst>
          </a:custGeom>
          <a:solidFill>
            <a:srgbClr val="8F00FF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2"/>
          <p:cNvSpPr/>
          <p:nvPr/>
        </p:nvSpPr>
        <p:spPr>
          <a:xfrm>
            <a:off x="1455" y="4926413"/>
            <a:ext cx="4574261" cy="216982"/>
          </a:xfrm>
          <a:custGeom>
            <a:rect b="b" l="l" r="r" t="t"/>
            <a:pathLst>
              <a:path extrusionOk="0" h="476884" w="10053320">
                <a:moveTo>
                  <a:pt x="2010613" y="0"/>
                </a:moveTo>
                <a:lnTo>
                  <a:pt x="0" y="0"/>
                </a:lnTo>
                <a:lnTo>
                  <a:pt x="0" y="476529"/>
                </a:lnTo>
                <a:lnTo>
                  <a:pt x="2010613" y="476529"/>
                </a:lnTo>
                <a:lnTo>
                  <a:pt x="2010613" y="0"/>
                </a:lnTo>
                <a:close/>
              </a:path>
              <a:path extrusionOk="0" h="476884" w="10053320">
                <a:moveTo>
                  <a:pt x="10053104" y="0"/>
                </a:moveTo>
                <a:lnTo>
                  <a:pt x="8042491" y="0"/>
                </a:lnTo>
                <a:lnTo>
                  <a:pt x="8042491" y="476529"/>
                </a:lnTo>
                <a:lnTo>
                  <a:pt x="10053104" y="476529"/>
                </a:lnTo>
                <a:lnTo>
                  <a:pt x="10053104" y="0"/>
                </a:lnTo>
                <a:close/>
              </a:path>
            </a:pathLst>
          </a:custGeom>
          <a:solidFill>
            <a:srgbClr val="FD493D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2"/>
          <p:cNvSpPr/>
          <p:nvPr/>
        </p:nvSpPr>
        <p:spPr>
          <a:xfrm>
            <a:off x="6401967" y="4926413"/>
            <a:ext cx="915025" cy="216982"/>
          </a:xfrm>
          <a:custGeom>
            <a:rect b="b" l="l" r="r" t="t"/>
            <a:pathLst>
              <a:path extrusionOk="0" h="476884" w="2011044">
                <a:moveTo>
                  <a:pt x="2010619" y="0"/>
                </a:moveTo>
                <a:lnTo>
                  <a:pt x="0" y="0"/>
                </a:lnTo>
                <a:lnTo>
                  <a:pt x="0" y="476529"/>
                </a:lnTo>
                <a:lnTo>
                  <a:pt x="2010619" y="476529"/>
                </a:lnTo>
                <a:lnTo>
                  <a:pt x="2010619" y="0"/>
                </a:lnTo>
                <a:close/>
              </a:path>
            </a:pathLst>
          </a:custGeom>
          <a:solidFill>
            <a:srgbClr val="FD493D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2"/>
          <p:cNvSpPr/>
          <p:nvPr/>
        </p:nvSpPr>
        <p:spPr>
          <a:xfrm>
            <a:off x="0" y="437262"/>
            <a:ext cx="266100" cy="77432"/>
          </a:xfrm>
          <a:custGeom>
            <a:rect b="b" l="l" r="r" t="t"/>
            <a:pathLst>
              <a:path extrusionOk="0" h="170180" w="584835">
                <a:moveTo>
                  <a:pt x="584264" y="0"/>
                </a:moveTo>
                <a:lnTo>
                  <a:pt x="0" y="0"/>
                </a:lnTo>
                <a:lnTo>
                  <a:pt x="0" y="170120"/>
                </a:lnTo>
                <a:lnTo>
                  <a:pt x="584264" y="170120"/>
                </a:lnTo>
                <a:lnTo>
                  <a:pt x="584264" y="0"/>
                </a:lnTo>
                <a:close/>
              </a:path>
            </a:pathLst>
          </a:custGeom>
          <a:solidFill>
            <a:srgbClr val="FBB3C1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2"/>
          <p:cNvSpPr/>
          <p:nvPr/>
        </p:nvSpPr>
        <p:spPr>
          <a:xfrm>
            <a:off x="265742" y="437262"/>
            <a:ext cx="267545" cy="77432"/>
          </a:xfrm>
          <a:custGeom>
            <a:rect b="b" l="l" r="r" t="t"/>
            <a:pathLst>
              <a:path extrusionOk="0" h="170180" w="588010">
                <a:moveTo>
                  <a:pt x="587448" y="0"/>
                </a:moveTo>
                <a:lnTo>
                  <a:pt x="0" y="0"/>
                </a:lnTo>
                <a:lnTo>
                  <a:pt x="0" y="170120"/>
                </a:lnTo>
                <a:lnTo>
                  <a:pt x="587448" y="170120"/>
                </a:lnTo>
                <a:lnTo>
                  <a:pt x="587448" y="0"/>
                </a:lnTo>
                <a:close/>
              </a:path>
            </a:pathLst>
          </a:custGeom>
          <a:solidFill>
            <a:srgbClr val="8F00FF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2"/>
          <p:cNvSpPr/>
          <p:nvPr/>
        </p:nvSpPr>
        <p:spPr>
          <a:xfrm>
            <a:off x="532933" y="437262"/>
            <a:ext cx="254254" cy="77432"/>
          </a:xfrm>
          <a:custGeom>
            <a:rect b="b" l="l" r="r" t="t"/>
            <a:pathLst>
              <a:path extrusionOk="0" h="170180" w="558800">
                <a:moveTo>
                  <a:pt x="558202" y="0"/>
                </a:moveTo>
                <a:lnTo>
                  <a:pt x="0" y="0"/>
                </a:lnTo>
                <a:lnTo>
                  <a:pt x="0" y="170120"/>
                </a:lnTo>
                <a:lnTo>
                  <a:pt x="558202" y="170120"/>
                </a:lnTo>
                <a:lnTo>
                  <a:pt x="558202" y="0"/>
                </a:lnTo>
                <a:close/>
              </a:path>
            </a:pathLst>
          </a:custGeom>
          <a:solidFill>
            <a:srgbClr val="FD493D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2"/>
          <p:cNvSpPr/>
          <p:nvPr/>
        </p:nvSpPr>
        <p:spPr>
          <a:xfrm>
            <a:off x="786822" y="437262"/>
            <a:ext cx="265522" cy="77432"/>
          </a:xfrm>
          <a:custGeom>
            <a:rect b="b" l="l" r="r" t="t"/>
            <a:pathLst>
              <a:path extrusionOk="0" h="170180" w="583564">
                <a:moveTo>
                  <a:pt x="583186" y="0"/>
                </a:moveTo>
                <a:lnTo>
                  <a:pt x="0" y="0"/>
                </a:lnTo>
                <a:lnTo>
                  <a:pt x="0" y="170120"/>
                </a:lnTo>
                <a:lnTo>
                  <a:pt x="583186" y="170120"/>
                </a:lnTo>
                <a:lnTo>
                  <a:pt x="583186" y="0"/>
                </a:lnTo>
                <a:close/>
              </a:path>
            </a:pathLst>
          </a:custGeom>
          <a:solidFill>
            <a:srgbClr val="FCAF17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2"/>
          <p:cNvSpPr/>
          <p:nvPr/>
        </p:nvSpPr>
        <p:spPr>
          <a:xfrm>
            <a:off x="1052074" y="437262"/>
            <a:ext cx="265522" cy="77432"/>
          </a:xfrm>
          <a:custGeom>
            <a:rect b="b" l="l" r="r" t="t"/>
            <a:pathLst>
              <a:path extrusionOk="0" h="170180" w="583564">
                <a:moveTo>
                  <a:pt x="583186" y="0"/>
                </a:moveTo>
                <a:lnTo>
                  <a:pt x="0" y="0"/>
                </a:lnTo>
                <a:lnTo>
                  <a:pt x="0" y="170120"/>
                </a:lnTo>
                <a:lnTo>
                  <a:pt x="583186" y="170120"/>
                </a:lnTo>
                <a:lnTo>
                  <a:pt x="583186" y="0"/>
                </a:lnTo>
                <a:close/>
              </a:path>
            </a:pathLst>
          </a:custGeom>
          <a:solidFill>
            <a:srgbClr val="B5D8E1"/>
          </a:solidFill>
          <a:ln>
            <a:noFill/>
          </a:ln>
        </p:spPr>
        <p:txBody>
          <a:bodyPr anchorCtr="0" anchor="t" bIns="16375" lIns="16375" spcFirstLastPara="1" rIns="16375" wrap="square" tIns="16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2"/>
          <p:cNvSpPr txBox="1"/>
          <p:nvPr>
            <p:ph type="title"/>
          </p:nvPr>
        </p:nvSpPr>
        <p:spPr>
          <a:xfrm>
            <a:off x="392100" y="210313"/>
            <a:ext cx="2322000" cy="2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1637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b="1" i="0" sz="1300">
                <a:solidFill>
                  <a:srgbClr val="1D1D1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7" name="Google Shape;77;p32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16375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32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16375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9" name="Google Shape;79;p32"/>
          <p:cNvSpPr txBox="1"/>
          <p:nvPr>
            <p:ph idx="11" type="ftr"/>
          </p:nvPr>
        </p:nvSpPr>
        <p:spPr>
          <a:xfrm>
            <a:off x="3108960" y="4783455"/>
            <a:ext cx="2925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16375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0" name="Google Shape;80;p32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16375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p32"/>
          <p:cNvSpPr txBox="1"/>
          <p:nvPr>
            <p:ph idx="12" type="sldNum"/>
          </p:nvPr>
        </p:nvSpPr>
        <p:spPr>
          <a:xfrm>
            <a:off x="6583680" y="4783455"/>
            <a:ext cx="2103000" cy="18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16375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7.xml"/><Relationship Id="rId10" Type="http://schemas.openxmlformats.org/officeDocument/2006/relationships/slideLayout" Target="../slideLayouts/slideLayout6.xml"/><Relationship Id="rId13" Type="http://schemas.openxmlformats.org/officeDocument/2006/relationships/slideLayout" Target="../slideLayouts/slideLayout9.xml"/><Relationship Id="rId12" Type="http://schemas.openxmlformats.org/officeDocument/2006/relationships/slideLayout" Target="../slideLayouts/slideLayout8.xml"/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0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/>
          <p:nvPr/>
        </p:nvSpPr>
        <p:spPr>
          <a:xfrm>
            <a:off x="0" y="-1925"/>
            <a:ext cx="9144000" cy="628500"/>
          </a:xfrm>
          <a:prstGeom prst="rect">
            <a:avLst/>
          </a:prstGeom>
          <a:solidFill>
            <a:srgbClr val="DAD1FF"/>
          </a:solidFill>
          <a:ln>
            <a:noFill/>
          </a:ln>
        </p:spPr>
        <p:txBody>
          <a:bodyPr anchorCtr="0" anchor="ctr" bIns="104000" lIns="104000" spcFirstLastPara="1" rIns="104000" wrap="square" tIns="10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3"/>
              <a:buFont typeface="Arial"/>
              <a:buNone/>
            </a:pPr>
            <a:r>
              <a:t/>
            </a:r>
            <a:endParaRPr b="0" i="0" sz="1593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" name="Google Shape;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00FF"/>
              </a:buClr>
              <a:buSzPts val="2700"/>
              <a:buFont typeface="Raleway"/>
              <a:buNone/>
              <a:defRPr b="1" i="0" sz="2700" u="none" cap="none" strike="noStrike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●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○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■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●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○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■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●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○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aleway"/>
              <a:buChar char="■"/>
              <a:defRPr b="0" i="0" sz="12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9" name="Google Shape;9;p21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0" name="Google Shape;10;p21" title="Логотип Открытые инновации.png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984737" y="148094"/>
            <a:ext cx="1129573" cy="382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3380" y="194466"/>
            <a:ext cx="1455005" cy="262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1" title="Лого_ПУТП_черный - RGB-0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3399" y="13230"/>
            <a:ext cx="806497" cy="628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1" title="putp_technologies_logo_black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51279" y="131942"/>
            <a:ext cx="1129585" cy="4324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5.png"/><Relationship Id="rId10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g"/><Relationship Id="rId4" Type="http://schemas.openxmlformats.org/officeDocument/2006/relationships/image" Target="../media/image9.png"/><Relationship Id="rId9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Add962" Type="http://schemas.openxmlformats.org/officeDocument/2006/relationships/image" Target="../media/lt_overview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Add1090" Type="http://schemas.openxmlformats.org/officeDocument/2006/relationships/image" Target="../media/qr_demo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"/>
            <a:ext cx="813907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420624" y="3703320"/>
            <a:ext cx="48463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36000" wrap="square" tIns="13325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50"/>
              <a:buFont typeface="Arial"/>
              <a:buNone/>
            </a:pPr>
            <a:r>
              <a:rPr b="0" i="0" lang="ru" sz="1300" u="none" cap="none" strike="noStrike">
                <a:solidFill>
                  <a:srgbClr val="E6913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Лерер Антон Ильич, лидер команды</a:t>
            </a:r>
            <a:endParaRPr b="0" i="0" sz="2050" u="none" cap="none" strike="noStrike">
              <a:solidFill>
                <a:srgbClr val="E69138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50"/>
              <a:buFont typeface="Arial"/>
              <a:buNone/>
            </a:pPr>
            <a:r>
              <a:rPr b="0" i="0" lang="ru" sz="1300" u="none" cap="none" strike="noStrike">
                <a:solidFill>
                  <a:srgbClr val="E6913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Финансовый университет · leader-id.ru/users/7792463</a:t>
            </a:r>
            <a:endParaRPr b="0" i="0" sz="2050" u="none" cap="none" strike="noStrike">
              <a:solidFill>
                <a:srgbClr val="E69138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8" name="Google Shape;88;p1"/>
          <p:cNvSpPr txBox="1"/>
          <p:nvPr>
            <p:ph type="title"/>
          </p:nvPr>
        </p:nvSpPr>
        <p:spPr>
          <a:xfrm>
            <a:off x="417129" y="1834153"/>
            <a:ext cx="46557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ru" sz="3100">
                <a:solidFill>
                  <a:schemeClr val="lt1"/>
                </a:solidFill>
              </a:rPr>
              <a:t>LAWTRACKER</a:t>
            </a:r>
            <a:endParaRPr sz="3100">
              <a:solidFill>
                <a:schemeClr val="lt1"/>
              </a:solidFill>
            </a:endParaRPr>
          </a:p>
        </p:txBody>
      </p:sp>
      <p:sp>
        <p:nvSpPr>
          <p:cNvPr id="89" name="Google Shape;89;p1"/>
          <p:cNvSpPr txBox="1"/>
          <p:nvPr>
            <p:ph idx="1" type="body"/>
          </p:nvPr>
        </p:nvSpPr>
        <p:spPr>
          <a:xfrm>
            <a:off x="420624" y="2916936"/>
            <a:ext cx="4846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200"/>
              <a:buNone/>
            </a:pPr>
            <a:r>
              <a:rPr lang="ru" sz="1400">
                <a:solidFill>
                  <a:schemeClr val="lt1"/>
                </a:solidFill>
              </a:rPr>
              <a:t>Платформа персонального мониторинга изменений законодательства для малого и среднего бизнеса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3050777" y="168546"/>
            <a:ext cx="1017973" cy="369927"/>
          </a:xfrm>
          <a:custGeom>
            <a:rect b="b" l="l" r="r" t="t"/>
            <a:pathLst>
              <a:path extrusionOk="0" h="1972945" w="515429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extrusionOk="0" h="1972945" w="515429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extrusionOk="0" h="1972945" w="515429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extrusionOk="0" h="1972945" w="515429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extrusionOk="0" h="1972945" w="515429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extrusionOk="0" h="1972945" w="515429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extrusionOk="0" h="1972945" w="515429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extrusionOk="0" h="1972945" w="515429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extrusionOk="0" h="1972945" w="515429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extrusionOk="0" h="1972945" w="515429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extrusionOk="0" h="1972945" w="515429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extrusionOk="0" h="1972945" w="515429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extrusionOk="0" h="1972945" w="515429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extrusionOk="0" h="1972945" w="515429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extrusionOk="0" h="1972945" w="515429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extrusionOk="0" h="1972945" w="515429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extrusionOk="0" h="1972945" w="515429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extrusionOk="0" h="1972945" w="515429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extrusionOk="0" h="1972945" w="515429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extrusionOk="0" h="1972945" w="515429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extrusionOk="0" h="1972945" w="515429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extrusionOk="0" h="1972945" w="515429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extrusionOk="0" h="1972945" w="515429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extrusionOk="0" h="1972945" w="515429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extrusionOk="0" h="1972945" w="515429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extrusionOk="0" h="1972945" w="515429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extrusionOk="0" h="1972945" w="515429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extrusionOk="0" h="1972945" w="515429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extrusionOk="0" h="1972945" w="515429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extrusionOk="0" h="1972945" w="515429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extrusionOk="0" h="1972945" w="515429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extrusionOk="0" h="1972945" w="515429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extrusionOk="0" h="1972945" w="515429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extrusionOk="0" h="1972945" w="515429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extrusionOk="0" h="1972945" w="515429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extrusionOk="0" h="1972945" w="515429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extrusionOk="0" h="1972945" w="515429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extrusionOk="0" h="1972945" w="515429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extrusionOk="0" h="1972945" w="515429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extrusionOk="0" h="1972945" w="515429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extrusionOk="0" h="1972945" w="515429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extrusionOk="0" h="1972945" w="515429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extrusionOk="0" h="1972945" w="515429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extrusionOk="0" h="1972945" w="515429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extrusionOk="0" h="1972945" w="515429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extrusionOk="0" h="1972945" w="515429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extrusionOk="0" h="1972945" w="515429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extrusionOk="0" h="1972945" w="515429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extrusionOk="0" h="1972945" w="515429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extrusionOk="0" h="1972945" w="515429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extrusionOk="0" h="1972945" w="515429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extrusionOk="0" h="1972945" w="515429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extrusionOk="0" h="1972945" w="515429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extrusionOk="0" h="1972945" w="515429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extrusionOk="0" h="1972945" w="515429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extrusionOk="0" h="1972945" w="515429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extrusionOk="0" h="1972945" w="515429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extrusionOk="0" h="1972945" w="515429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extrusionOk="0" h="1972945" w="515429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extrusionOk="0" h="1972945" w="515429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extrusionOk="0" h="1972945" w="515429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extrusionOk="0" h="1972945" w="515429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extrusionOk="0" h="1972945" w="515429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extrusionOk="0" h="1972945" w="515429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extrusionOk="0" h="1972945" w="515429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extrusionOk="0" h="1972945" w="515429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extrusionOk="0" h="1972945" w="515429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extrusionOk="0" h="1972945" w="515429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5"/>
              <a:buFont typeface="Arial"/>
              <a:buNone/>
            </a:pPr>
            <a:r>
              <a:t/>
            </a:r>
            <a:endParaRPr b="0" i="0" sz="120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7185" y="216264"/>
            <a:ext cx="1072450" cy="328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9226" y="235023"/>
            <a:ext cx="960744" cy="244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4953" y="178391"/>
            <a:ext cx="269561" cy="349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927496" y="236613"/>
            <a:ext cx="966629" cy="267441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609143" y="198367"/>
            <a:ext cx="270053" cy="3091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"/>
          <p:cNvPicPr preferRelativeResize="0"/>
          <p:nvPr/>
        </p:nvPicPr>
        <p:blipFill rotWithShape="1">
          <a:blip r:embed="rId9">
            <a:alphaModFix/>
          </a:blip>
          <a:srcRect b="0" l="28694" r="0" t="0"/>
          <a:stretch/>
        </p:blipFill>
        <p:spPr>
          <a:xfrm>
            <a:off x="5478049" y="0"/>
            <a:ext cx="366765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" title="Логотип Открытые инновации.png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91150" y="205915"/>
            <a:ext cx="1072460" cy="36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" title="Лого_ПУТП_черный - RGB-01.pn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548575" y="8103"/>
            <a:ext cx="960748" cy="748716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Лого Финуниверситета 901"/>
          <p:cNvSpPr/>
          <p:nvPr/>
        </p:nvSpPr>
        <p:spPr>
          <a:xfrm>
            <a:off x="5577840" y="914400"/>
            <a:ext cx="269748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02" name="Лого Финуниверситета 902"/>
          <p:cNvSpPr/>
          <p:nvPr/>
        </p:nvSpPr>
        <p:spPr>
          <a:xfrm>
            <a:off x="5687568" y="969264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03" name="Лого Финуниверситета 903"/>
          <p:cNvSpPr/>
          <p:nvPr/>
        </p:nvSpPr>
        <p:spPr>
          <a:xfrm>
            <a:off x="6144768" y="941832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АКТУАЛЬНОСТЬ ИДЕИ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06" name="Google Shape;106;p2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pic>
        <p:nvPicPr>
          <p:cNvPr id="107" name="Google Shape;107;p2"/>
          <p:cNvPicPr preferRelativeResize="0"/>
          <p:nvPr/>
        </p:nvPicPr>
        <p:blipFill rotWithShape="1">
          <a:blip r:embed="rId3">
            <a:alphaModFix/>
          </a:blip>
          <a:srcRect b="-6560" l="-2310" r="2310" t="6560"/>
          <a:stretch/>
        </p:blipFill>
        <p:spPr>
          <a:xfrm>
            <a:off x="4011224" y="2450450"/>
            <a:ext cx="5352598" cy="2745474"/>
          </a:xfrm>
          <a:prstGeom prst="rect">
            <a:avLst/>
          </a:prstGeom>
          <a:noFill/>
          <a:ln>
            <a:noFill/>
          </a:ln>
        </p:spPr>
      </p:pic>
      <p:sp>
        <p:nvSpPr>
          <p:cNvPr id="904" name="Инфографика 904"/>
          <p:cNvSpPr/>
          <p:nvPr/>
        </p:nvSpPr>
        <p:spPr>
          <a:xfrm>
            <a:off x="457200" y="1371600"/>
            <a:ext cx="2377440" cy="3383280"/>
          </a:xfrm>
          <a:prstGeom prst="roundRect">
            <a:avLst>
              <a:gd name="adj" fmla="val 8000"/>
            </a:avLst>
          </a:prstGeom>
          <a:solidFill>
            <a:srgbClr val="8F00FF"/>
          </a:solidFill>
          <a:ln>
            <a:noFill/>
          </a:ln>
        </p:spPr>
        <p:txBody>
          <a:bodyPr wrap="square" lIns="137160" tIns="137160" rIns="137160" bIns="13716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3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≈6 млн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200" b="0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субъектов малого и среднего бизнеса в России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950" b="0" i="0">
                <a:solidFill>
                  <a:srgbClr val="DAD1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 данным реестра МСП ФНС; цифра уточняется</a:t>
            </a:r>
          </a:p>
        </p:txBody>
      </p:sp>
      <p:sp>
        <p:nvSpPr>
          <p:cNvPr id="905" name="Инфографика 905"/>
          <p:cNvSpPr/>
          <p:nvPr/>
        </p:nvSpPr>
        <p:spPr>
          <a:xfrm>
            <a:off x="3017520" y="13716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Масштаб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Федеральный: проблема касается всех компаний, у которых нет собственного юриста.</a:t>
            </a:r>
          </a:p>
        </p:txBody>
      </p:sp>
      <p:sp>
        <p:nvSpPr>
          <p:cNvPr id="906" name="Инфографика 906"/>
          <p:cNvSpPr/>
          <p:nvPr/>
        </p:nvSpPr>
        <p:spPr>
          <a:xfrm>
            <a:off x="5943600" y="13716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Польза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Меньше пропущенных сроков и штрафов, меньше времени на ручной мониторинг; вузу — рабочий ИИ-продукт для бизнеса.</a:t>
            </a:r>
          </a:p>
        </p:txBody>
      </p:sp>
      <p:sp>
        <p:nvSpPr>
          <p:cNvPr id="907" name="Инфографика 907"/>
          <p:cNvSpPr/>
          <p:nvPr/>
        </p:nvSpPr>
        <p:spPr>
          <a:xfrm>
            <a:off x="3017520" y="310896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Тренды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Законодательство меняется всё быстрее, бизнес уходит в цифровые сервисы и мессенджеры, растёт рынок LegalTech и ИИ.</a:t>
            </a:r>
          </a:p>
        </p:txBody>
      </p:sp>
      <p:sp>
        <p:nvSpPr>
          <p:cNvPr id="908" name="Инфографика 908"/>
          <p:cNvSpPr/>
          <p:nvPr/>
        </p:nvSpPr>
        <p:spPr>
          <a:xfrm>
            <a:off x="5943600" y="310896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Заделы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Демо-прототип, экономическая модель и тарифы, план бета-теста; команда из 5 человек: финансы, разработка, аналитика.</a:t>
            </a:r>
          </a:p>
        </p:txBody>
      </p:sp>
      <p:sp>
        <p:nvSpPr>
          <p:cNvPr id="909" name="Лого Финуниверситета 909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10" name="Лого Финуниверситета 910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ПРОБЛЕМА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14" name="Google Shape;114;p3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911" name="Инфографика 911"/>
          <p:cNvSpPr/>
          <p:nvPr/>
        </p:nvSpPr>
        <p:spPr>
          <a:xfrm>
            <a:off x="457200" y="1371600"/>
            <a:ext cx="1920240" cy="14173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12" name="Инфографика 912"/>
          <p:cNvSpPr/>
          <p:nvPr/>
        </p:nvSpPr>
        <p:spPr>
          <a:xfrm>
            <a:off x="566928" y="1463040"/>
            <a:ext cx="347472" cy="347472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</a:t>
            </a:r>
          </a:p>
        </p:txBody>
      </p:sp>
      <p:sp>
        <p:nvSpPr>
          <p:cNvPr id="913" name="Инфографика 913"/>
          <p:cNvSpPr/>
          <p:nvPr/>
        </p:nvSpPr>
        <p:spPr>
          <a:xfrm>
            <a:off x="548640" y="1828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Избыток информации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важные изменения теряются среди неактуальных новостей</a:t>
            </a:r>
          </a:p>
        </p:txBody>
      </p:sp>
      <p:sp>
        <p:nvSpPr>
          <p:cNvPr id="914" name="Инфографика 914"/>
          <p:cNvSpPr/>
          <p:nvPr/>
        </p:nvSpPr>
        <p:spPr>
          <a:xfrm>
            <a:off x="2542032" y="1371600"/>
            <a:ext cx="1920240" cy="14173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15" name="Инфографика 915"/>
          <p:cNvSpPr/>
          <p:nvPr/>
        </p:nvSpPr>
        <p:spPr>
          <a:xfrm>
            <a:off x="2651760" y="1463040"/>
            <a:ext cx="347472" cy="347472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2</a:t>
            </a:r>
          </a:p>
        </p:txBody>
      </p:sp>
      <p:sp>
        <p:nvSpPr>
          <p:cNvPr id="916" name="Инфографика 916"/>
          <p:cNvSpPr/>
          <p:nvPr/>
        </p:nvSpPr>
        <p:spPr>
          <a:xfrm>
            <a:off x="2633472" y="1828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Сложный язык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мало увидеть акт — нужно понять, что он значит на практике</a:t>
            </a:r>
          </a:p>
        </p:txBody>
      </p:sp>
      <p:sp>
        <p:nvSpPr>
          <p:cNvPr id="917" name="Инфографика 917"/>
          <p:cNvSpPr/>
          <p:nvPr/>
        </p:nvSpPr>
        <p:spPr>
          <a:xfrm>
            <a:off x="4626864" y="1371600"/>
            <a:ext cx="1920240" cy="14173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18" name="Инфографика 918"/>
          <p:cNvSpPr/>
          <p:nvPr/>
        </p:nvSpPr>
        <p:spPr>
          <a:xfrm>
            <a:off x="4736592" y="1463040"/>
            <a:ext cx="347472" cy="347472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3</a:t>
            </a:r>
          </a:p>
        </p:txBody>
      </p:sp>
      <p:sp>
        <p:nvSpPr>
          <p:cNvPr id="919" name="Инфографика 919"/>
          <p:cNvSpPr/>
          <p:nvPr/>
        </p:nvSpPr>
        <p:spPr>
          <a:xfrm>
            <a:off x="4718303" y="1828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Нет персонализации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одна поправка по-разному важна магазину, IT и стройке</a:t>
            </a:r>
          </a:p>
        </p:txBody>
      </p:sp>
      <p:sp>
        <p:nvSpPr>
          <p:cNvPr id="920" name="Инфографика 920"/>
          <p:cNvSpPr/>
          <p:nvPr/>
        </p:nvSpPr>
        <p:spPr>
          <a:xfrm>
            <a:off x="6711696" y="1371600"/>
            <a:ext cx="1920240" cy="14173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21" name="Инфографика 921"/>
          <p:cNvSpPr/>
          <p:nvPr/>
        </p:nvSpPr>
        <p:spPr>
          <a:xfrm>
            <a:off x="6821424" y="1463040"/>
            <a:ext cx="347472" cy="347472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4</a:t>
            </a:r>
          </a:p>
        </p:txBody>
      </p:sp>
      <p:sp>
        <p:nvSpPr>
          <p:cNvPr id="922" name="Инфографика 922"/>
          <p:cNvSpPr/>
          <p:nvPr/>
        </p:nvSpPr>
        <p:spPr>
          <a:xfrm>
            <a:off x="6803136" y="1828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Ручной мониторинг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отнимает время, но риск пропустить норму остаётся</a:t>
            </a:r>
          </a:p>
        </p:txBody>
      </p:sp>
      <p:sp>
        <p:nvSpPr>
          <p:cNvPr id="923" name="Инфографика 923"/>
          <p:cNvSpPr/>
          <p:nvPr/>
        </p:nvSpPr>
        <p:spPr>
          <a:xfrm>
            <a:off x="457200" y="2971800"/>
            <a:ext cx="2880360" cy="566928"/>
          </a:xfrm>
          <a:prstGeom prst="homePlate">
            <a:avLst/>
          </a:prstGeom>
          <a:solidFill>
            <a:srgbClr val="B79B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Пропущенная норма или срок</a:t>
            </a:r>
          </a:p>
        </p:txBody>
      </p:sp>
      <p:sp>
        <p:nvSpPr>
          <p:cNvPr id="924" name="Инфографика 924"/>
          <p:cNvSpPr/>
          <p:nvPr/>
        </p:nvSpPr>
        <p:spPr>
          <a:xfrm>
            <a:off x="3246120" y="2971800"/>
            <a:ext cx="2880360" cy="566928"/>
          </a:xfrm>
          <a:prstGeom prst="homePlate">
            <a:avLst/>
          </a:prstGeom>
          <a:solidFill>
            <a:srgbClr val="FCAF17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Штраф, претензия</a:t>
            </a:r>
          </a:p>
        </p:txBody>
      </p:sp>
      <p:sp>
        <p:nvSpPr>
          <p:cNvPr id="925" name="Инфографика 925"/>
          <p:cNvSpPr/>
          <p:nvPr/>
        </p:nvSpPr>
        <p:spPr>
          <a:xfrm>
            <a:off x="6035040" y="2971800"/>
            <a:ext cx="2880360" cy="566928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Срочная переделка документов</a:t>
            </a:r>
          </a:p>
        </p:txBody>
      </p:sp>
      <p:sp>
        <p:nvSpPr>
          <p:cNvPr id="926" name="Инфографика 926"/>
          <p:cNvSpPr/>
          <p:nvPr/>
        </p:nvSpPr>
        <p:spPr>
          <a:xfrm>
            <a:off x="457200" y="3703320"/>
            <a:ext cx="4023360" cy="109728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Как решают сейчас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Читают новости и каналы вручную, платят бухгалтеру или юристу за консультацию; справочные системы дороги (≈3 500 ₽/мес).</a:t>
            </a:r>
          </a:p>
        </p:txBody>
      </p:sp>
      <p:sp>
        <p:nvSpPr>
          <p:cNvPr id="927" name="Инфографика 927"/>
          <p:cNvSpPr/>
          <p:nvPr/>
        </p:nvSpPr>
        <p:spPr>
          <a:xfrm>
            <a:off x="4663440" y="3703320"/>
            <a:ext cx="4023360" cy="109728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Подтверждение проблемы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Проблемные интервью (15–20) с малым бизнесом, юристами, бухгалтерами и HR запланированы на 1–3 месяца.</a:t>
            </a:r>
          </a:p>
        </p:txBody>
      </p:sp>
      <p:sp>
        <p:nvSpPr>
          <p:cNvPr id="928" name="Лого Финуниверситета 928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29" name="Лого Финуниверситета 929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ЦЕЛЕВАЯ АУДИТОРИЯ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21" name="Google Shape;121;p4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930" name="Инфографика 930"/>
          <p:cNvSpPr/>
          <p:nvPr/>
        </p:nvSpPr>
        <p:spPr>
          <a:xfrm>
            <a:off x="457200" y="137160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Пользователь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бухгалтер, HR, юрист, комплаенс-специалист</a:t>
            </a:r>
          </a:p>
        </p:txBody>
      </p:sp>
      <p:sp>
        <p:nvSpPr>
          <p:cNvPr id="931" name="Инфографика 931"/>
          <p:cNvSpPr/>
          <p:nvPr/>
        </p:nvSpPr>
        <p:spPr>
          <a:xfrm>
            <a:off x="3090672" y="1737360"/>
            <a:ext cx="128016" cy="320040"/>
          </a:xfrm>
          <a:prstGeom prst="rightArrow">
            <a:avLst/>
          </a:prstGeom>
          <a:solidFill>
            <a:srgbClr val="FCAF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ru"/>
          </a:p>
        </p:txBody>
      </p:sp>
      <p:sp>
        <p:nvSpPr>
          <p:cNvPr id="932" name="Инфографика 932"/>
          <p:cNvSpPr/>
          <p:nvPr/>
        </p:nvSpPr>
        <p:spPr>
          <a:xfrm>
            <a:off x="3246120" y="137160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8F00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ЛПР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собственник или руководитель, оплачивает подписку</a:t>
            </a:r>
          </a:p>
        </p:txBody>
      </p:sp>
      <p:sp>
        <p:nvSpPr>
          <p:cNvPr id="933" name="Инфографика 933"/>
          <p:cNvSpPr/>
          <p:nvPr/>
        </p:nvSpPr>
        <p:spPr>
          <a:xfrm>
            <a:off x="5879592" y="1737360"/>
            <a:ext cx="128016" cy="320040"/>
          </a:xfrm>
          <a:prstGeom prst="rightArrow">
            <a:avLst/>
          </a:prstGeom>
          <a:solidFill>
            <a:srgbClr val="FCAF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ru"/>
          </a:p>
        </p:txBody>
      </p:sp>
      <p:sp>
        <p:nvSpPr>
          <p:cNvPr id="934" name="Инфографика 934"/>
          <p:cNvSpPr/>
          <p:nvPr/>
        </p:nvSpPr>
        <p:spPr>
          <a:xfrm>
            <a:off x="6035040" y="137160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Влияющие лица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внешний бухгалтер или юрист на аутсорсе, бизнес-ассоциации</a:t>
            </a:r>
          </a:p>
        </p:txBody>
      </p:sp>
      <p:sp>
        <p:nvSpPr>
          <p:cNvPr id="935" name="Инфографика 935"/>
          <p:cNvSpPr/>
          <p:nvPr/>
        </p:nvSpPr>
        <p:spPr>
          <a:xfrm>
            <a:off x="457200" y="2606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Кто платит: ИП, микро- и малый бизнес без собственного юриста. Приоритетные отрасли:</a:t>
            </a:r>
          </a:p>
        </p:txBody>
      </p:sp>
      <p:sp>
        <p:nvSpPr>
          <p:cNvPr id="936" name="Инфографика 936"/>
          <p:cNvSpPr/>
          <p:nvPr/>
        </p:nvSpPr>
        <p:spPr>
          <a:xfrm>
            <a:off x="457200" y="294436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Интернет-торговля</a:t>
            </a:r>
          </a:p>
        </p:txBody>
      </p:sp>
      <p:sp>
        <p:nvSpPr>
          <p:cNvPr id="937" name="Инфографика 937"/>
          <p:cNvSpPr/>
          <p:nvPr/>
        </p:nvSpPr>
        <p:spPr>
          <a:xfrm>
            <a:off x="2144268" y="2944368"/>
            <a:ext cx="411480" cy="347472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IT</a:t>
            </a:r>
          </a:p>
        </p:txBody>
      </p:sp>
      <p:sp>
        <p:nvSpPr>
          <p:cNvPr id="938" name="Инфографика 938"/>
          <p:cNvSpPr/>
          <p:nvPr/>
        </p:nvSpPr>
        <p:spPr>
          <a:xfrm>
            <a:off x="2665476" y="2944368"/>
            <a:ext cx="1266444" cy="347472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Строительство</a:t>
            </a:r>
          </a:p>
        </p:txBody>
      </p:sp>
      <p:sp>
        <p:nvSpPr>
          <p:cNvPr id="939" name="Инфографика 939"/>
          <p:cNvSpPr/>
          <p:nvPr/>
        </p:nvSpPr>
        <p:spPr>
          <a:xfrm>
            <a:off x="4041648" y="2944368"/>
            <a:ext cx="1344168" cy="347472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Трудовое право</a:t>
            </a:r>
          </a:p>
        </p:txBody>
      </p:sp>
      <p:sp>
        <p:nvSpPr>
          <p:cNvPr id="940" name="Инфографика 940"/>
          <p:cNvSpPr/>
          <p:nvPr/>
        </p:nvSpPr>
        <p:spPr>
          <a:xfrm>
            <a:off x="5495544" y="2944368"/>
            <a:ext cx="1732788" cy="347472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Реклама и маркетинг</a:t>
            </a:r>
          </a:p>
        </p:txBody>
      </p:sp>
      <p:sp>
        <p:nvSpPr>
          <p:cNvPr id="941" name="Инфографика 941"/>
          <p:cNvSpPr/>
          <p:nvPr/>
        </p:nvSpPr>
        <p:spPr>
          <a:xfrm>
            <a:off x="7338060" y="2944368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Компании с персональными данными</a:t>
            </a:r>
          </a:p>
        </p:txBody>
      </p:sp>
      <p:sp>
        <p:nvSpPr>
          <p:cNvPr id="942" name="Инфографика 942"/>
          <p:cNvSpPr/>
          <p:nvPr/>
        </p:nvSpPr>
        <p:spPr>
          <a:xfrm>
            <a:off x="457200" y="352044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2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≈6 млн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субъектов МСП в России</a:t>
            </a:r>
          </a:p>
        </p:txBody>
      </p:sp>
      <p:sp>
        <p:nvSpPr>
          <p:cNvPr id="943" name="Инфографика 943"/>
          <p:cNvSpPr/>
          <p:nvPr/>
        </p:nvSpPr>
        <p:spPr>
          <a:xfrm>
            <a:off x="3246120" y="352044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2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≈600 тыс.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компаний приоритетных отраслей (оценка ≈10%)</a:t>
            </a:r>
          </a:p>
        </p:txBody>
      </p:sp>
      <p:sp>
        <p:nvSpPr>
          <p:cNvPr id="944" name="Инфографика 944"/>
          <p:cNvSpPr/>
          <p:nvPr/>
        </p:nvSpPr>
        <p:spPr>
          <a:xfrm>
            <a:off x="6035040" y="352044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5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штрафы · переделки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потери клиента без решения</a:t>
            </a:r>
          </a:p>
        </p:txBody>
      </p:sp>
      <p:sp>
        <p:nvSpPr>
          <p:cNvPr id="945" name="Лого Финуниверситета 945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46" name="Лого Финуниверситета 946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РЕШЕНИЕ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29" name="Google Shape;129;p5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947" name="Инфографика 947"/>
          <p:cNvSpPr/>
          <p:nvPr/>
        </p:nvSpPr>
        <p:spPr>
          <a:xfrm>
            <a:off x="457200" y="1371600"/>
            <a:ext cx="5394960" cy="786384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48" name="Инфографика 948"/>
          <p:cNvSpPr/>
          <p:nvPr/>
        </p:nvSpPr>
        <p:spPr>
          <a:xfrm>
            <a:off x="566928" y="1554480"/>
            <a:ext cx="420624" cy="420624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</a:t>
            </a:r>
          </a:p>
        </p:txBody>
      </p:sp>
      <p:sp>
        <p:nvSpPr>
          <p:cNvPr id="949" name="Инфографика 949"/>
          <p:cNvSpPr/>
          <p:nvPr/>
        </p:nvSpPr>
        <p:spPr>
          <a:xfrm>
            <a:off x="1097280" y="1408176"/>
            <a:ext cx="46634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Профиль компании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отрасль, налоговый режим, численность, регионы</a:t>
            </a:r>
          </a:p>
        </p:txBody>
      </p:sp>
      <p:sp>
        <p:nvSpPr>
          <p:cNvPr id="950" name="Инфографика 950"/>
          <p:cNvSpPr/>
          <p:nvPr/>
        </p:nvSpPr>
        <p:spPr>
          <a:xfrm>
            <a:off x="676656" y="2157984"/>
            <a:ext cx="164592" cy="109728"/>
          </a:xfrm>
          <a:prstGeom prst="downArrow">
            <a:avLst/>
          </a:prstGeom>
          <a:solidFill>
            <a:srgbClr val="FCAF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ru"/>
          </a:p>
        </p:txBody>
      </p:sp>
      <p:sp>
        <p:nvSpPr>
          <p:cNvPr id="951" name="Инфографика 951"/>
          <p:cNvSpPr/>
          <p:nvPr/>
        </p:nvSpPr>
        <p:spPr>
          <a:xfrm>
            <a:off x="457200" y="2267712"/>
            <a:ext cx="5394960" cy="786384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52" name="Инфографика 952"/>
          <p:cNvSpPr/>
          <p:nvPr/>
        </p:nvSpPr>
        <p:spPr>
          <a:xfrm>
            <a:off x="566928" y="2450592"/>
            <a:ext cx="420624" cy="420624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2</a:t>
            </a:r>
          </a:p>
        </p:txBody>
      </p:sp>
      <p:sp>
        <p:nvSpPr>
          <p:cNvPr id="953" name="Инфографика 953"/>
          <p:cNvSpPr/>
          <p:nvPr/>
        </p:nvSpPr>
        <p:spPr>
          <a:xfrm>
            <a:off x="1097280" y="2304288"/>
            <a:ext cx="46634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ИИ-разбор изменений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сбор актов из официальных источников и отбор по применимости к профилю</a:t>
            </a:r>
          </a:p>
        </p:txBody>
      </p:sp>
      <p:sp>
        <p:nvSpPr>
          <p:cNvPr id="954" name="Инфографика 954"/>
          <p:cNvSpPr/>
          <p:nvPr/>
        </p:nvSpPr>
        <p:spPr>
          <a:xfrm>
            <a:off x="676656" y="3054096"/>
            <a:ext cx="164592" cy="109728"/>
          </a:xfrm>
          <a:prstGeom prst="downArrow">
            <a:avLst/>
          </a:prstGeom>
          <a:solidFill>
            <a:srgbClr val="FCAF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ru"/>
          </a:p>
        </p:txBody>
      </p:sp>
      <p:sp>
        <p:nvSpPr>
          <p:cNvPr id="955" name="Инфографика 955"/>
          <p:cNvSpPr/>
          <p:nvPr/>
        </p:nvSpPr>
        <p:spPr>
          <a:xfrm>
            <a:off x="457200" y="3163824"/>
            <a:ext cx="5394960" cy="786384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956" name="Инфографика 956"/>
          <p:cNvSpPr/>
          <p:nvPr/>
        </p:nvSpPr>
        <p:spPr>
          <a:xfrm>
            <a:off x="566928" y="3346704"/>
            <a:ext cx="420624" cy="420624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3</a:t>
            </a:r>
          </a:p>
        </p:txBody>
      </p:sp>
      <p:sp>
        <p:nvSpPr>
          <p:cNvPr id="957" name="Инфографика 957"/>
          <p:cNvSpPr/>
          <p:nvPr/>
        </p:nvSpPr>
        <p:spPr>
          <a:xfrm>
            <a:off x="1097280" y="3200400"/>
            <a:ext cx="46634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Дайджест и план действий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что изменилось, касается ли нас, что сделать; кабинет, e-mail, Telegram</a:t>
            </a:r>
          </a:p>
        </p:txBody>
      </p:sp>
      <p:sp>
        <p:nvSpPr>
          <p:cNvPr id="958" name="Инфографика 958"/>
          <p:cNvSpPr/>
          <p:nvPr/>
        </p:nvSpPr>
        <p:spPr>
          <a:xfrm>
            <a:off x="457200" y="4114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от 690 ₽/мес</a:t>
            </a:r>
          </a:p>
        </p:txBody>
      </p:sp>
      <p:sp>
        <p:nvSpPr>
          <p:cNvPr id="959" name="Инфографика 959"/>
          <p:cNvSpPr/>
          <p:nvPr/>
        </p:nvSpPr>
        <p:spPr>
          <a:xfrm>
            <a:off x="2286000" y="4114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проверка юристом</a:t>
            </a:r>
          </a:p>
        </p:txBody>
      </p:sp>
      <p:sp>
        <p:nvSpPr>
          <p:cNvPr id="960" name="Инфографика 960"/>
          <p:cNvSpPr/>
          <p:nvPr/>
        </p:nvSpPr>
        <p:spPr>
          <a:xfrm>
            <a:off x="4114800" y="4114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AD1FF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ссылка на первоисточник</a:t>
            </a:r>
          </a:p>
        </p:txBody>
      </p:sp>
      <p:sp>
        <p:nvSpPr>
          <p:cNvPr id="961" name="Инфографика 961"/>
          <p:cNvSpPr/>
          <p:nvPr/>
        </p:nvSpPr>
        <p:spPr>
          <a:xfrm>
            <a:off x="457200" y="452628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Сейчас: демо-прототип → цель: бета-версия с ИИ-разбором, e-mail и Telegram</a:t>
            </a:r>
          </a:p>
        </p:txBody>
      </p:sp>
      <p:pic>
        <p:nvPicPr>
          <p:cNvPr id="963" name="Picture 963" descr="Макет личного кабинета LawTracker"/>
          <p:cNvPicPr>
            <a:picLocks noChangeAspect="1"/>
          </p:cNvPicPr>
          <p:nvPr/>
        </p:nvPicPr>
        <p:blipFill>
          <a:blip r:embed="rIdAdd962"/>
          <a:stretch>
            <a:fillRect/>
          </a:stretch>
        </p:blipFill>
        <p:spPr>
          <a:xfrm>
            <a:off x="6035040" y="1371600"/>
            <a:ext cx="2651760" cy="1673352"/>
          </a:xfrm>
          <a:prstGeom prst="rect">
            <a:avLst/>
          </a:prstGeom>
          <a:ln w="9525">
            <a:solidFill>
              <a:srgbClr val="8F00FF"/>
            </a:solidFill>
          </a:ln>
        </p:spPr>
      </p:pic>
      <p:sp>
        <p:nvSpPr>
          <p:cNvPr id="964" name="Инфографика 964"/>
          <p:cNvSpPr/>
          <p:nvPr/>
        </p:nvSpPr>
        <p:spPr>
          <a:xfrm>
            <a:off x="6035040" y="3090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Макет личного кабинета (демо)</a:t>
            </a:r>
          </a:p>
        </p:txBody>
      </p:sp>
      <p:sp>
        <p:nvSpPr>
          <p:cNvPr id="965" name="Инфографика 965"/>
          <p:cNvSpPr/>
          <p:nvPr/>
        </p:nvSpPr>
        <p:spPr>
          <a:xfrm>
            <a:off x="6035040" y="342900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8F00FF"/>
          </a:solidFill>
          <a:ln>
            <a:noFill/>
          </a:ln>
        </p:spPr>
        <p:txBody>
          <a:bodyPr wrap="square" lIns="118872" tIns="118872" rIns="118872" bIns="11887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Отличия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00" b="0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фильтр по профилю компании · объяснение «почему это вас касается» · уровень уверенности ИИ</a:t>
            </a:r>
          </a:p>
        </p:txBody>
      </p:sp>
      <p:sp>
        <p:nvSpPr>
          <p:cNvPr id="966" name="Лого Финуниверситета 966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67" name="Лого Финуниверситета 967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35" name="Google Shape;135;p6"/>
          <p:cNvSpPr txBox="1"/>
          <p:nvPr/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78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" sz="2600" u="none" cap="none" strike="noStrike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ТЕХНОЛОГИЧЕСКОЕ ЯДРО ПРОЕКТА</a:t>
            </a:r>
            <a:endParaRPr b="0" i="0" sz="2700" u="none" cap="none" strike="noStrike">
              <a:solidFill>
                <a:schemeClr val="dk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968" name="Инфографика 968"/>
          <p:cNvSpPr/>
          <p:nvPr/>
        </p:nvSpPr>
        <p:spPr>
          <a:xfrm>
            <a:off x="457200" y="1371600"/>
            <a:ext cx="1737360" cy="777240"/>
          </a:xfrm>
          <a:prstGeom prst="homePlate">
            <a:avLst>
              <a:gd name="adj" fmla="val 25000"/>
            </a:avLst>
          </a:prstGeom>
          <a:solidFill>
            <a:srgbClr val="8F00FF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Сбор актов</a:t>
            </a:r>
          </a:p>
        </p:txBody>
      </p:sp>
      <p:sp>
        <p:nvSpPr>
          <p:cNvPr id="969" name="Инфографика 969"/>
          <p:cNvSpPr/>
          <p:nvPr/>
        </p:nvSpPr>
        <p:spPr>
          <a:xfrm>
            <a:off x="2103120" y="1371600"/>
            <a:ext cx="1737360" cy="777240"/>
          </a:xfrm>
          <a:prstGeom prst="chevron">
            <a:avLst>
              <a:gd name="adj" fmla="val 25000"/>
            </a:avLst>
          </a:prstGeom>
          <a:solidFill>
            <a:srgbClr val="6A00C7"/>
          </a:solidFill>
          <a:ln>
            <a:noFill/>
          </a:ln>
        </p:spPr>
        <p:txBody>
          <a:bodyPr wrap="square" lIns="182880" tIns="182880" rIns="182880" bIns="18288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Разбор и атрибуты</a:t>
            </a:r>
          </a:p>
        </p:txBody>
      </p:sp>
      <p:sp>
        <p:nvSpPr>
          <p:cNvPr id="970" name="Инфографика 970"/>
          <p:cNvSpPr/>
          <p:nvPr/>
        </p:nvSpPr>
        <p:spPr>
          <a:xfrm>
            <a:off x="3749039" y="1371600"/>
            <a:ext cx="1737360" cy="777240"/>
          </a:xfrm>
          <a:prstGeom prst="chevron">
            <a:avLst>
              <a:gd name="adj" fmla="val 25000"/>
            </a:avLst>
          </a:prstGeom>
          <a:solidFill>
            <a:srgbClr val="8F00FF"/>
          </a:solidFill>
          <a:ln>
            <a:noFill/>
          </a:ln>
        </p:spPr>
        <p:txBody>
          <a:bodyPr wrap="square" lIns="182880" tIns="182880" rIns="182880" bIns="18288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Применимость к профилю</a:t>
            </a:r>
          </a:p>
        </p:txBody>
      </p:sp>
      <p:sp>
        <p:nvSpPr>
          <p:cNvPr id="971" name="Инфографика 971"/>
          <p:cNvSpPr/>
          <p:nvPr/>
        </p:nvSpPr>
        <p:spPr>
          <a:xfrm>
            <a:off x="5394960" y="1371600"/>
            <a:ext cx="1737360" cy="777240"/>
          </a:xfrm>
          <a:prstGeom prst="chevron">
            <a:avLst>
              <a:gd name="adj" fmla="val 25000"/>
            </a:avLst>
          </a:prstGeom>
          <a:solidFill>
            <a:srgbClr val="6A00C7"/>
          </a:solidFill>
          <a:ln>
            <a:noFill/>
          </a:ln>
        </p:spPr>
        <p:txBody>
          <a:bodyPr wrap="square" lIns="182880" tIns="182880" rIns="182880" bIns="18288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Пояснение и план</a:t>
            </a:r>
          </a:p>
        </p:txBody>
      </p:sp>
      <p:sp>
        <p:nvSpPr>
          <p:cNvPr id="972" name="Инфографика 972"/>
          <p:cNvSpPr/>
          <p:nvPr/>
        </p:nvSpPr>
        <p:spPr>
          <a:xfrm>
            <a:off x="7040880" y="1371600"/>
            <a:ext cx="1737360" cy="777240"/>
          </a:xfrm>
          <a:prstGeom prst="chevron">
            <a:avLst>
              <a:gd name="adj" fmla="val 25000"/>
            </a:avLst>
          </a:prstGeom>
          <a:solidFill>
            <a:srgbClr val="8F00FF"/>
          </a:solidFill>
          <a:ln>
            <a:noFill/>
          </a:ln>
        </p:spPr>
        <p:txBody>
          <a:bodyPr wrap="square" lIns="182880" tIns="182880" rIns="182880" bIns="18288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Проверка юристом и доставка</a:t>
            </a:r>
          </a:p>
        </p:txBody>
      </p:sp>
      <p:sp>
        <p:nvSpPr>
          <p:cNvPr id="973" name="Инфографика 973"/>
          <p:cNvSpPr/>
          <p:nvPr/>
        </p:nvSpPr>
        <p:spPr>
          <a:xfrm>
            <a:off x="457200" y="2331720"/>
            <a:ext cx="2651760" cy="160020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Ядро: ИИ-обработка текстов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NLP и большие языковые модели (YandexGPT, GigaChat или открытые Llama, Mistral, Qwen в российском контуре; при необходимости дообучение LoRA).</a:t>
            </a:r>
          </a:p>
        </p:txBody>
      </p:sp>
      <p:sp>
        <p:nvSpPr>
          <p:cNvPr id="974" name="Инфографика 974"/>
          <p:cNvSpPr/>
          <p:nvPr/>
        </p:nvSpPr>
        <p:spPr>
          <a:xfrm>
            <a:off x="3246120" y="2331720"/>
            <a:ext cx="2651760" cy="160020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Основа платформы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Веб-кабинет и Telegram-бот, REST API, PostgreSQL + pgvector, оркестрация конвейеров Apache Airflow.</a:t>
            </a:r>
          </a:p>
        </p:txBody>
      </p:sp>
      <p:sp>
        <p:nvSpPr>
          <p:cNvPr id="975" name="Инфографика 975"/>
          <p:cNvSpPr/>
          <p:nvPr/>
        </p:nvSpPr>
        <p:spPr>
          <a:xfrm>
            <a:off x="6035040" y="2331720"/>
            <a:ext cx="2651760" cy="160020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Критическая технология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Искусственный интеллект и анализ больших данных: автоматическая обработка неструктурированных текстов.</a:t>
            </a:r>
          </a:p>
        </p:txBody>
      </p:sp>
      <p:sp>
        <p:nvSpPr>
          <p:cNvPr id="976" name="Инфографика 976"/>
          <p:cNvSpPr/>
          <p:nvPr/>
        </p:nvSpPr>
        <p:spPr>
          <a:xfrm>
            <a:off x="457200" y="4114800"/>
            <a:ext cx="2651760" cy="713232"/>
          </a:xfrm>
          <a:prstGeom prst="roundRect">
            <a:avLst>
              <a:gd name="adj" fmla="val 12000"/>
            </a:avLst>
          </a:prstGeom>
          <a:solidFill>
            <a:srgbClr val="8F00FF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85–90%  целевая точность классификации</a:t>
            </a:r>
          </a:p>
        </p:txBody>
      </p:sp>
      <p:sp>
        <p:nvSpPr>
          <p:cNvPr id="977" name="Инфографика 977"/>
          <p:cNvSpPr/>
          <p:nvPr/>
        </p:nvSpPr>
        <p:spPr>
          <a:xfrm>
            <a:off x="3246120" y="4114800"/>
            <a:ext cx="2651760" cy="713232"/>
          </a:xfrm>
          <a:prstGeom prst="roundRect">
            <a:avLst>
              <a:gd name="adj" fmla="val 12000"/>
            </a:avLst>
          </a:prstGeom>
          <a:solidFill>
            <a:srgbClr val="8F00FF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≤ 24 ч  от публикации акта до ленты</a:t>
            </a:r>
          </a:p>
        </p:txBody>
      </p:sp>
      <p:sp>
        <p:nvSpPr>
          <p:cNvPr id="978" name="Инфографика 978"/>
          <p:cNvSpPr/>
          <p:nvPr/>
        </p:nvSpPr>
        <p:spPr>
          <a:xfrm>
            <a:off x="6035040" y="4114800"/>
            <a:ext cx="2651760" cy="713232"/>
          </a:xfrm>
          <a:prstGeom prst="roundRect">
            <a:avLst>
              <a:gd name="adj" fmla="val 12000"/>
            </a:avLst>
          </a:prstGeom>
          <a:solidFill>
            <a:srgbClr val="8F00FF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152-ФЗ  данные хранятся в РФ</a:t>
            </a:r>
          </a:p>
        </p:txBody>
      </p:sp>
      <p:sp>
        <p:nvSpPr>
          <p:cNvPr id="979" name="Лого Финуниверситета 979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80" name="Лого Финуниверситета 980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ЦЕННОСТЬ, ЦЕННОСТНОЕ ПРЕДЛОЖЕНИЕ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53" name="Google Shape;153;p8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981" name="Инфографика 981"/>
          <p:cNvSpPr/>
          <p:nvPr/>
        </p:nvSpPr>
        <p:spPr>
          <a:xfrm>
            <a:off x="457200" y="1371600"/>
            <a:ext cx="2194560" cy="530352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Мы, компания</a:t>
            </a:r>
          </a:p>
        </p:txBody>
      </p:sp>
      <p:sp>
        <p:nvSpPr>
          <p:cNvPr id="982" name="Инфографика 982"/>
          <p:cNvSpPr/>
          <p:nvPr/>
        </p:nvSpPr>
        <p:spPr>
          <a:xfrm>
            <a:off x="2743200" y="1371600"/>
            <a:ext cx="5943600" cy="530352"/>
          </a:xfrm>
          <a:prstGeom prst="roundRect">
            <a:avLst>
              <a:gd name="adj" fmla="val 20000"/>
            </a:avLst>
          </a:prstGeom>
          <a:solidFill>
            <a:srgbClr val="EFE9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3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LawTracker</a:t>
            </a:r>
          </a:p>
        </p:txBody>
      </p:sp>
      <p:sp>
        <p:nvSpPr>
          <p:cNvPr id="983" name="Инфографика 983"/>
          <p:cNvSpPr/>
          <p:nvPr/>
        </p:nvSpPr>
        <p:spPr>
          <a:xfrm>
            <a:off x="457200" y="1956816"/>
            <a:ext cx="2194560" cy="530352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помогаем клиентам типа</a:t>
            </a:r>
          </a:p>
        </p:txBody>
      </p:sp>
      <p:sp>
        <p:nvSpPr>
          <p:cNvPr id="984" name="Инфографика 984"/>
          <p:cNvSpPr/>
          <p:nvPr/>
        </p:nvSpPr>
        <p:spPr>
          <a:xfrm>
            <a:off x="2743200" y="1956816"/>
            <a:ext cx="5943600" cy="530352"/>
          </a:xfrm>
          <a:prstGeom prst="roundRect">
            <a:avLst>
              <a:gd name="adj" fmla="val 20000"/>
            </a:avLst>
          </a:prstGeom>
          <a:solidFill>
            <a:srgbClr val="EFE9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малому и среднему бизнесу и ИП без собственного юриста; юристам, бухгалтерам, HR</a:t>
            </a:r>
          </a:p>
        </p:txBody>
      </p:sp>
      <p:sp>
        <p:nvSpPr>
          <p:cNvPr id="985" name="Инфографика 985"/>
          <p:cNvSpPr/>
          <p:nvPr/>
        </p:nvSpPr>
        <p:spPr>
          <a:xfrm>
            <a:off x="457200" y="2542032"/>
            <a:ext cx="2194560" cy="530352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в ситуации</a:t>
            </a:r>
          </a:p>
        </p:txBody>
      </p:sp>
      <p:sp>
        <p:nvSpPr>
          <p:cNvPr id="986" name="Инфографика 986"/>
          <p:cNvSpPr/>
          <p:nvPr/>
        </p:nvSpPr>
        <p:spPr>
          <a:xfrm>
            <a:off x="2743200" y="2542032"/>
            <a:ext cx="5943600" cy="530352"/>
          </a:xfrm>
          <a:prstGeom prst="roundRect">
            <a:avLst>
              <a:gd name="adj" fmla="val 20000"/>
            </a:avLst>
          </a:prstGeom>
          <a:solidFill>
            <a:srgbClr val="EFE9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когда законодательство меняется постоянно, а отслеживать изменения вручную некогда</a:t>
            </a:r>
          </a:p>
        </p:txBody>
      </p:sp>
      <p:sp>
        <p:nvSpPr>
          <p:cNvPr id="987" name="Инфографика 987"/>
          <p:cNvSpPr/>
          <p:nvPr/>
        </p:nvSpPr>
        <p:spPr>
          <a:xfrm>
            <a:off x="457200" y="3127248"/>
            <a:ext cx="2194560" cy="530352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решать проблему</a:t>
            </a:r>
          </a:p>
        </p:txBody>
      </p:sp>
      <p:sp>
        <p:nvSpPr>
          <p:cNvPr id="988" name="Инфографика 988"/>
          <p:cNvSpPr/>
          <p:nvPr/>
        </p:nvSpPr>
        <p:spPr>
          <a:xfrm>
            <a:off x="2743200" y="3127248"/>
            <a:ext cx="5943600" cy="530352"/>
          </a:xfrm>
          <a:prstGeom prst="roundRect">
            <a:avLst>
              <a:gd name="adj" fmla="val 20000"/>
            </a:avLst>
          </a:prstGeom>
          <a:solidFill>
            <a:srgbClr val="EFE9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пропущенных норм и сроков, потерь времени, штрафов и срочных переделок</a:t>
            </a:r>
          </a:p>
        </p:txBody>
      </p:sp>
      <p:sp>
        <p:nvSpPr>
          <p:cNvPr id="989" name="Инфографика 989"/>
          <p:cNvSpPr/>
          <p:nvPr/>
        </p:nvSpPr>
        <p:spPr>
          <a:xfrm>
            <a:off x="457200" y="3712464"/>
            <a:ext cx="2194560" cy="530352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с помощью технологии</a:t>
            </a:r>
          </a:p>
        </p:txBody>
      </p:sp>
      <p:sp>
        <p:nvSpPr>
          <p:cNvPr id="990" name="Инфографика 990"/>
          <p:cNvSpPr/>
          <p:nvPr/>
        </p:nvSpPr>
        <p:spPr>
          <a:xfrm>
            <a:off x="2743200" y="3712464"/>
            <a:ext cx="5943600" cy="530352"/>
          </a:xfrm>
          <a:prstGeom prst="roundRect">
            <a:avLst>
              <a:gd name="adj" fmla="val 20000"/>
            </a:avLst>
          </a:prstGeom>
          <a:solidFill>
            <a:srgbClr val="EFE9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ИИ-анализа официальных текстов и персональной ленты по профилю компании</a:t>
            </a:r>
          </a:p>
        </p:txBody>
      </p:sp>
      <p:sp>
        <p:nvSpPr>
          <p:cNvPr id="991" name="Инфографика 991"/>
          <p:cNvSpPr/>
          <p:nvPr/>
        </p:nvSpPr>
        <p:spPr>
          <a:xfrm>
            <a:off x="457200" y="4297680"/>
            <a:ext cx="2194560" cy="530352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и получать ценность</a:t>
            </a:r>
          </a:p>
        </p:txBody>
      </p:sp>
      <p:sp>
        <p:nvSpPr>
          <p:cNvPr id="992" name="Инфографика 992"/>
          <p:cNvSpPr/>
          <p:nvPr/>
        </p:nvSpPr>
        <p:spPr>
          <a:xfrm>
            <a:off x="2743200" y="4297680"/>
            <a:ext cx="5943600" cy="530352"/>
          </a:xfrm>
          <a:prstGeom prst="roundRect">
            <a:avLst>
              <a:gd name="adj" fmla="val 20000"/>
            </a:avLst>
          </a:prstGeom>
          <a:solidFill>
            <a:srgbClr val="EFE9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не новость, а план действий: что изменилось, касается ли нас, что сделать, кому и к какому сроку</a:t>
            </a:r>
          </a:p>
        </p:txBody>
      </p:sp>
      <p:sp>
        <p:nvSpPr>
          <p:cNvPr id="993" name="Лого Финуниверситета 993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994" name="Лого Финуниверситета 994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63" name="Google Shape;163;p9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РЫНОК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995" name="Инфографика 995"/>
          <p:cNvSpPr/>
          <p:nvPr/>
        </p:nvSpPr>
        <p:spPr>
          <a:xfrm>
            <a:off x="548640" y="1371600"/>
            <a:ext cx="3383280" cy="3383280"/>
          </a:xfrm>
          <a:prstGeom prst="ellipse">
            <a:avLst/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ru"/>
          </a:p>
        </p:txBody>
      </p:sp>
      <p:sp>
        <p:nvSpPr>
          <p:cNvPr id="996" name="Инфографика 996"/>
          <p:cNvSpPr/>
          <p:nvPr/>
        </p:nvSpPr>
        <p:spPr>
          <a:xfrm>
            <a:off x="1097280" y="2331720"/>
            <a:ext cx="2286000" cy="2286000"/>
          </a:xfrm>
          <a:prstGeom prst="ellipse">
            <a:avLst/>
          </a:prstGeom>
          <a:solidFill>
            <a:srgbClr val="B79B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ru"/>
          </a:p>
        </p:txBody>
      </p:sp>
      <p:sp>
        <p:nvSpPr>
          <p:cNvPr id="997" name="Инфографика 997"/>
          <p:cNvSpPr/>
          <p:nvPr/>
        </p:nvSpPr>
        <p:spPr>
          <a:xfrm>
            <a:off x="1691640" y="3383280"/>
            <a:ext cx="1097280" cy="109728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SOM</a:t>
            </a:r>
          </a:p>
        </p:txBody>
      </p:sp>
      <p:sp>
        <p:nvSpPr>
          <p:cNvPr id="998" name="Инфографика 998"/>
          <p:cNvSpPr/>
          <p:nvPr/>
        </p:nvSpPr>
        <p:spPr>
          <a:xfrm>
            <a:off x="640080" y="1600200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TAM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≈78 млрд ₽/год</a:t>
            </a:r>
          </a:p>
        </p:txBody>
      </p:sp>
      <p:sp>
        <p:nvSpPr>
          <p:cNvPr id="999" name="Инфографика 999"/>
          <p:cNvSpPr/>
          <p:nvPr/>
        </p:nvSpPr>
        <p:spPr>
          <a:xfrm>
            <a:off x="1188720" y="2542032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SAM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≈7,8 млрд ₽/год</a:t>
            </a:r>
          </a:p>
        </p:txBody>
      </p:sp>
      <p:sp>
        <p:nvSpPr>
          <p:cNvPr id="1000" name="Инфографика 1000"/>
          <p:cNvSpPr/>
          <p:nvPr/>
        </p:nvSpPr>
        <p:spPr>
          <a:xfrm>
            <a:off x="4297680" y="1371600"/>
            <a:ext cx="868680" cy="749808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TAM</a:t>
            </a:r>
          </a:p>
        </p:txBody>
      </p:sp>
      <p:sp>
        <p:nvSpPr>
          <p:cNvPr id="1001" name="Инфографика 1001"/>
          <p:cNvSpPr/>
          <p:nvPr/>
        </p:nvSpPr>
        <p:spPr>
          <a:xfrm>
            <a:off x="5257800" y="1371600"/>
            <a:ext cx="3429000" cy="749808"/>
          </a:xfrm>
          <a:prstGeom prst="roundRect">
            <a:avLst>
              <a:gd name="adj" fmla="val 12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≈6 млн субъектов МСП × средний чек ≈1 090 ₽/мес (≈13 тыс. ₽/год)</a:t>
            </a:r>
          </a:p>
        </p:txBody>
      </p:sp>
      <p:sp>
        <p:nvSpPr>
          <p:cNvPr id="1002" name="Инфографика 1002"/>
          <p:cNvSpPr/>
          <p:nvPr/>
        </p:nvSpPr>
        <p:spPr>
          <a:xfrm>
            <a:off x="4297680" y="2240280"/>
            <a:ext cx="868680" cy="749808"/>
          </a:xfrm>
          <a:prstGeom prst="roundRect">
            <a:avLst>
              <a:gd name="adj" fmla="val 15000"/>
            </a:avLst>
          </a:prstGeom>
          <a:solidFill>
            <a:srgbClr val="B79BFF"/>
          </a:solidFill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SAM</a:t>
            </a:r>
          </a:p>
        </p:txBody>
      </p:sp>
      <p:sp>
        <p:nvSpPr>
          <p:cNvPr id="1003" name="Инфографика 1003"/>
          <p:cNvSpPr/>
          <p:nvPr/>
        </p:nvSpPr>
        <p:spPr>
          <a:xfrm>
            <a:off x="5257800" y="2240280"/>
            <a:ext cx="3429000" cy="749808"/>
          </a:xfrm>
          <a:prstGeom prst="roundRect">
            <a:avLst>
              <a:gd name="adj" fmla="val 12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компании приоритетных отраслей (допущение ≈10%, ≈600 тыс.)</a:t>
            </a:r>
          </a:p>
        </p:txBody>
      </p:sp>
      <p:sp>
        <p:nvSpPr>
          <p:cNvPr id="1004" name="Инфографика 1004"/>
          <p:cNvSpPr/>
          <p:nvPr/>
        </p:nvSpPr>
        <p:spPr>
          <a:xfrm>
            <a:off x="4297680" y="3108960"/>
            <a:ext cx="868680" cy="749808"/>
          </a:xfrm>
          <a:prstGeom prst="roundRect">
            <a:avLst>
              <a:gd name="adj" fmla="val 15000"/>
            </a:avLst>
          </a:prstGeom>
          <a:solidFill>
            <a:srgbClr val="8F00FF"/>
          </a:solidFill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SOM</a:t>
            </a:r>
          </a:p>
        </p:txBody>
      </p:sp>
      <p:sp>
        <p:nvSpPr>
          <p:cNvPr id="1005" name="Инфографика 1005"/>
          <p:cNvSpPr/>
          <p:nvPr/>
        </p:nvSpPr>
        <p:spPr>
          <a:xfrm>
            <a:off x="5257800" y="3108960"/>
            <a:ext cx="3429000" cy="749808"/>
          </a:xfrm>
          <a:prstGeom prst="roundRect">
            <a:avLst>
              <a:gd name="adj" fmla="val 12000"/>
            </a:avLst>
          </a:prstGeom>
          <a:solidFill>
            <a:srgbClr val="EFE9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ориентир 2-го года: 1 000 платных клиентов ≈ 13 млн ₽/год; безубыточность ≈335 клиентов</a:t>
            </a:r>
          </a:p>
        </p:txBody>
      </p:sp>
      <p:sp>
        <p:nvSpPr>
          <p:cNvPr id="1006" name="Инфографика 1006"/>
          <p:cNvSpPr/>
          <p:nvPr/>
        </p:nvSpPr>
        <p:spPr>
          <a:xfrm>
            <a:off x="4297680" y="4023360"/>
            <a:ext cx="4389120" cy="73152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8F00FF"/>
            </a:solidFill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Динамика: спрос растёт вместе с числом изменений в законах; всплески — в начале года и в отчётные периоды. Оценки расчётные.</a:t>
            </a:r>
          </a:p>
        </p:txBody>
      </p:sp>
      <p:sp>
        <p:nvSpPr>
          <p:cNvPr id="1007" name="Лого Финуниверситета 1007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08" name="Лого Финуниверситета 1008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69" name="Google Shape;169;p10"/>
          <p:cNvSpPr txBox="1"/>
          <p:nvPr/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78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" sz="2600" u="none" cap="none" strike="noStrike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КОНКУРЕНТЫ И АНАЛОГИ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1" name="Google Shape;171;p10"/>
          <p:cNvGraphicFramePr/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>
                <a:noFill/>
                <a:tableStyleId>{856C21C2-C43E-4445-9161-571DEF8E2397}</a:tableStyleId>
              </a:tblPr>
              <a:tblGrid>
                <a:gridCol w="1828800"/>
                <a:gridCol w="1737360"/>
                <a:gridCol w="1783080"/>
                <a:gridCol w="1600200"/>
                <a:gridCol w="1280160"/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FFFFFF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Характеристики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3B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FFFFFF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LawTracker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FFFFFF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КонсультантПлюс (Россия)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3B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FFFFFF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Гарант (Россия)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3B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FFFFFF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Контур (Россия)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3BA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Персональная лента по профилю компании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Да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F3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Частично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Частично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Частично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Объяснение простым языком и шаги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Да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F3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Частично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Частично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Частично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1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Цена для малого бизнеса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от 690 ₽/мес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F3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от ≈3 500 ₽/мес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по запросу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 b="0" i="0">
                          <a:solidFill>
                            <a:srgbClr val="1E1B2E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 xml:space="preserve">по запросу</a:t>
                      </a:r>
                    </a:p>
                  </a:txBody>
                  <a:tcPr marT="45720" marB="45720" marR="64008" marL="64008" anchor="ctr">
                    <a:lnL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1CC"/>
                    </a:solidFill>
                  </a:tcPr>
                </a:tc>
              </a:tr>
            </a:tbl>
          </a:graphicData>
        </a:graphic>
      </p:graphicFrame>
      <p:sp>
        <p:nvSpPr>
          <p:cNvPr id="1009" name="Инфографика 1009"/>
          <p:cNvSpPr/>
          <p:nvPr/>
        </p:nvSpPr>
        <p:spPr>
          <a:xfrm>
            <a:off x="457200" y="3749039"/>
            <a:ext cx="8229600" cy="566928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Наше отличие: отбор изменений под профиль конкретной компании и план действий по цене от 690 ₽/мес</a:t>
            </a:r>
          </a:p>
        </p:txBody>
      </p:sp>
      <p:sp>
        <p:nvSpPr>
          <p:cNvPr id="1010" name="Инфографика 1010"/>
          <p:cNvSpPr/>
          <p:nvPr/>
        </p:nvSpPr>
        <p:spPr>
          <a:xfrm>
            <a:off x="457200" y="4407408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Также: Кодекс / Техэксперт, Telegram-каналы и СМИ, сайты госорганов, внешние консультанты. Оценка команды по открытым данным, уточняется.</a:t>
            </a:r>
          </a:p>
        </p:txBody>
      </p:sp>
      <p:sp>
        <p:nvSpPr>
          <p:cNvPr id="1011" name="Лого Финуниверситета 1011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12" name="Лого Финуниверситета 1012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noFill/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79" name="Google Shape;179;p11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ru" sz="2600">
                <a:solidFill>
                  <a:schemeClr val="dk2"/>
                </a:solidFill>
              </a:rPr>
              <a:t>БИЗНЕС-МОДЕЛЬ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013" name="Инфографика 1013"/>
          <p:cNvSpPr/>
          <p:nvPr/>
        </p:nvSpPr>
        <p:spPr>
          <a:xfrm>
            <a:off x="457200" y="1371600"/>
            <a:ext cx="1920240" cy="182880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Бесплатный старт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7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0 ₽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профиль и общий дайджест раз в неделю</a:t>
            </a:r>
          </a:p>
        </p:txBody>
      </p:sp>
      <p:sp>
        <p:nvSpPr>
          <p:cNvPr id="1014" name="Инфографика 1014"/>
          <p:cNvSpPr/>
          <p:nvPr/>
        </p:nvSpPr>
        <p:spPr>
          <a:xfrm>
            <a:off x="2542032" y="1371600"/>
            <a:ext cx="1920240" cy="182880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Базовый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7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690 ₽/мес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персональный дайджест, Telegram, напоминания о сроках</a:t>
            </a:r>
          </a:p>
        </p:txBody>
      </p:sp>
      <p:sp>
        <p:nvSpPr>
          <p:cNvPr id="1015" name="Инфографика 1015"/>
          <p:cNvSpPr/>
          <p:nvPr/>
        </p:nvSpPr>
        <p:spPr>
          <a:xfrm>
            <a:off x="4626864" y="1371600"/>
            <a:ext cx="1920240" cy="1828800"/>
          </a:xfrm>
          <a:prstGeom prst="roundRect">
            <a:avLst>
              <a:gd name="adj" fmla="val 8000"/>
            </a:avLst>
          </a:prstGeom>
          <a:solidFill>
            <a:srgbClr val="8F00FF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Профессиональный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700" b="1" i="0">
                <a:solidFill>
                  <a:srgbClr val="FCAF17"/>
                </a:solidFill>
                <a:latin typeface="Raleway"/>
                <a:ea typeface="Raleway"/>
                <a:cs typeface="Raleway"/>
                <a:sym typeface="Raleway"/>
              </a:rPr>
              <a:t xml:space="preserve">1 690 ₽/мес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00" b="0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рекомендации к действию, архив, до 5 пользователей</a:t>
            </a:r>
          </a:p>
        </p:txBody>
      </p:sp>
      <p:sp>
        <p:nvSpPr>
          <p:cNvPr id="1016" name="Инфографика 1016"/>
          <p:cNvSpPr/>
          <p:nvPr/>
        </p:nvSpPr>
        <p:spPr>
          <a:xfrm>
            <a:off x="6711696" y="1371600"/>
            <a:ext cx="1920240" cy="182880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1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Корпоративный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5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от 4 900 ₽/мес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группа компаний, кабинет для нескольких клиентов</a:t>
            </a:r>
          </a:p>
        </p:txBody>
      </p:sp>
      <p:sp>
        <p:nvSpPr>
          <p:cNvPr id="1017" name="Инфографика 1017"/>
          <p:cNvSpPr/>
          <p:nvPr/>
        </p:nvSpPr>
        <p:spPr>
          <a:xfrm>
            <a:off x="457200" y="3383280"/>
            <a:ext cx="2651760" cy="868680"/>
          </a:xfrm>
          <a:prstGeom prst="roundRect">
            <a:avLst>
              <a:gd name="adj" fmla="val 12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ru" sz="16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≈1 090 ₽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средний чек в месяц</a:t>
            </a:r>
          </a:p>
        </p:txBody>
      </p:sp>
      <p:sp>
        <p:nvSpPr>
          <p:cNvPr id="1018" name="Инфографика 1018"/>
          <p:cNvSpPr/>
          <p:nvPr/>
        </p:nvSpPr>
        <p:spPr>
          <a:xfrm>
            <a:off x="3246120" y="3383280"/>
            <a:ext cx="2651760" cy="868680"/>
          </a:xfrm>
          <a:prstGeom prst="roundRect">
            <a:avLst>
              <a:gd name="adj" fmla="val 12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ru" sz="16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≈335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платных клиентов до безубыточности</a:t>
            </a:r>
          </a:p>
        </p:txBody>
      </p:sp>
      <p:sp>
        <p:nvSpPr>
          <p:cNvPr id="1019" name="Инфографика 1019"/>
          <p:cNvSpPr/>
          <p:nvPr/>
        </p:nvSpPr>
        <p:spPr>
          <a:xfrm>
            <a:off x="6035040" y="3383280"/>
            <a:ext cx="2651760" cy="868680"/>
          </a:xfrm>
          <a:prstGeom prst="roundRect">
            <a:avLst>
              <a:gd name="adj" fmla="val 12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ru" sz="16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≈13 млн ₽/год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1 000 платных клиентах</a:t>
            </a:r>
          </a:p>
        </p:txBody>
      </p:sp>
      <p:sp>
        <p:nvSpPr>
          <p:cNvPr id="1020" name="Инфографика 1020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Каналы: партнёрская сеть бухгалтеров и юристов, Telegram-каналы, контент для поиска, вебинары, бесплатный старт как воронка. Цены предварительные.</a:t>
            </a:r>
          </a:p>
        </p:txBody>
      </p:sp>
      <p:sp>
        <p:nvSpPr>
          <p:cNvPr id="1021" name="Лого Финуниверситета 1021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22" name="Лого Финуниверситета 1022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ru" sz="2600">
                <a:solidFill>
                  <a:schemeClr val="dk2"/>
                </a:solidFill>
              </a:rPr>
              <a:t>КОМАНДА И ПРОГРЕСС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88" name="Google Shape;188;p12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023" name="Инфографика 1023"/>
          <p:cNvSpPr/>
          <p:nvPr/>
        </p:nvSpPr>
        <p:spPr>
          <a:xfrm>
            <a:off x="457200" y="1371600"/>
            <a:ext cx="1554480" cy="3108960"/>
          </a:xfrm>
          <a:prstGeom prst="roundRect">
            <a:avLst>
              <a:gd name="adj" fmla="val 7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24" name="Инфографика 1024"/>
          <p:cNvSpPr/>
          <p:nvPr/>
        </p:nvSpPr>
        <p:spPr>
          <a:xfrm>
            <a:off x="868680" y="1481328"/>
            <a:ext cx="731520" cy="73152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8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АЛ</a:t>
            </a:r>
          </a:p>
        </p:txBody>
      </p:sp>
      <p:sp>
        <p:nvSpPr>
          <p:cNvPr id="1025" name="Инфографика 1025"/>
          <p:cNvSpPr/>
          <p:nvPr/>
        </p:nvSpPr>
        <p:spPr>
          <a:xfrm>
            <a:off x="502920" y="22860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Лерер Антон Ильич</a:t>
            </a:r>
          </a:p>
        </p:txBody>
      </p:sp>
      <p:sp>
        <p:nvSpPr>
          <p:cNvPr id="1026" name="Инфографика 1026"/>
          <p:cNvSpPr/>
          <p:nvPr/>
        </p:nvSpPr>
        <p:spPr>
          <a:xfrm>
            <a:off x="566928" y="2880360"/>
            <a:ext cx="1335024" cy="384048"/>
          </a:xfrm>
          <a:prstGeom prst="roundRect">
            <a:avLst>
              <a:gd name="adj" fmla="val 40000"/>
            </a:avLst>
          </a:prstGeom>
          <a:solidFill>
            <a:srgbClr val="DAD1FF"/>
          </a:solidFill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Лидер</a:t>
            </a:r>
          </a:p>
        </p:txBody>
      </p:sp>
      <p:sp>
        <p:nvSpPr>
          <p:cNvPr id="1027" name="Инфографика 1027"/>
          <p:cNvSpPr/>
          <p:nvPr/>
        </p:nvSpPr>
        <p:spPr>
          <a:xfrm>
            <a:off x="521208" y="3310128"/>
            <a:ext cx="1426464" cy="11430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Координация, продукт и дизайн, питч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Лидер проекта, автор прототипа сайта</a:t>
            </a:r>
          </a:p>
        </p:txBody>
      </p:sp>
      <p:sp>
        <p:nvSpPr>
          <p:cNvPr id="1028" name="Инфографика 1028"/>
          <p:cNvSpPr/>
          <p:nvPr/>
        </p:nvSpPr>
        <p:spPr>
          <a:xfrm>
            <a:off x="2121408" y="1371600"/>
            <a:ext cx="1554480" cy="3108960"/>
          </a:xfrm>
          <a:prstGeom prst="roundRect">
            <a:avLst>
              <a:gd name="adj" fmla="val 7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29" name="Инфографика 1029"/>
          <p:cNvSpPr/>
          <p:nvPr/>
        </p:nvSpPr>
        <p:spPr>
          <a:xfrm>
            <a:off x="2532888" y="1481328"/>
            <a:ext cx="731520" cy="73152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8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НП</a:t>
            </a:r>
          </a:p>
        </p:txBody>
      </p:sp>
      <p:sp>
        <p:nvSpPr>
          <p:cNvPr id="1030" name="Инфографика 1030"/>
          <p:cNvSpPr/>
          <p:nvPr/>
        </p:nvSpPr>
        <p:spPr>
          <a:xfrm>
            <a:off x="2167128" y="22860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Парамонов Николай Дмитриевич</a:t>
            </a:r>
          </a:p>
        </p:txBody>
      </p:sp>
      <p:sp>
        <p:nvSpPr>
          <p:cNvPr id="1031" name="Инфографика 1031"/>
          <p:cNvSpPr/>
          <p:nvPr/>
        </p:nvSpPr>
        <p:spPr>
          <a:xfrm>
            <a:off x="2231136" y="2880360"/>
            <a:ext cx="1335024" cy="384048"/>
          </a:xfrm>
          <a:prstGeom prst="roundRect">
            <a:avLst>
              <a:gd name="adj" fmla="val 40000"/>
            </a:avLst>
          </a:prstGeom>
          <a:solidFill>
            <a:srgbClr val="DAD1FF"/>
          </a:solidFill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Экономист</a:t>
            </a:r>
          </a:p>
        </p:txBody>
      </p:sp>
      <p:sp>
        <p:nvSpPr>
          <p:cNvPr id="1032" name="Инфографика 1032"/>
          <p:cNvSpPr/>
          <p:nvPr/>
        </p:nvSpPr>
        <p:spPr>
          <a:xfrm>
            <a:off x="2185416" y="3310128"/>
            <a:ext cx="1426464" cy="11430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Составление бизнес-модели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Опыт работы с финансовыми инструментами</a:t>
            </a:r>
          </a:p>
        </p:txBody>
      </p:sp>
      <p:sp>
        <p:nvSpPr>
          <p:cNvPr id="1033" name="Инфографика 1033"/>
          <p:cNvSpPr/>
          <p:nvPr/>
        </p:nvSpPr>
        <p:spPr>
          <a:xfrm>
            <a:off x="3785616" y="1371600"/>
            <a:ext cx="1554480" cy="3108960"/>
          </a:xfrm>
          <a:prstGeom prst="roundRect">
            <a:avLst>
              <a:gd name="adj" fmla="val 7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34" name="Инфографика 1034"/>
          <p:cNvSpPr/>
          <p:nvPr/>
        </p:nvSpPr>
        <p:spPr>
          <a:xfrm>
            <a:off x="4197096" y="1481328"/>
            <a:ext cx="731520" cy="73152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8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МШ</a:t>
            </a:r>
          </a:p>
        </p:txBody>
      </p:sp>
      <p:sp>
        <p:nvSpPr>
          <p:cNvPr id="1035" name="Инфографика 1035"/>
          <p:cNvSpPr/>
          <p:nvPr/>
        </p:nvSpPr>
        <p:spPr>
          <a:xfrm>
            <a:off x="3831336" y="22860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Шелков Михаил Маратович</a:t>
            </a:r>
          </a:p>
        </p:txBody>
      </p:sp>
      <p:sp>
        <p:nvSpPr>
          <p:cNvPr id="1036" name="Инфографика 1036"/>
          <p:cNvSpPr/>
          <p:nvPr/>
        </p:nvSpPr>
        <p:spPr>
          <a:xfrm>
            <a:off x="3895344" y="2880360"/>
            <a:ext cx="1335024" cy="384048"/>
          </a:xfrm>
          <a:prstGeom prst="roundRect">
            <a:avLst>
              <a:gd name="adj" fmla="val 40000"/>
            </a:avLst>
          </a:prstGeom>
          <a:solidFill>
            <a:srgbClr val="DAD1FF"/>
          </a:solidFill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Разработчик (front-end)</a:t>
            </a:r>
          </a:p>
        </p:txBody>
      </p:sp>
      <p:sp>
        <p:nvSpPr>
          <p:cNvPr id="1037" name="Инфографика 1037"/>
          <p:cNvSpPr/>
          <p:nvPr/>
        </p:nvSpPr>
        <p:spPr>
          <a:xfrm>
            <a:off x="3849624" y="3310128"/>
            <a:ext cx="1426464" cy="11430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Пользовательская часть платформы и Telegram-бот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В школе руководил стартап-проектами</a:t>
            </a:r>
          </a:p>
        </p:txBody>
      </p:sp>
      <p:sp>
        <p:nvSpPr>
          <p:cNvPr id="1038" name="Инфографика 1038"/>
          <p:cNvSpPr/>
          <p:nvPr/>
        </p:nvSpPr>
        <p:spPr>
          <a:xfrm>
            <a:off x="5449824" y="1371600"/>
            <a:ext cx="1554480" cy="3108960"/>
          </a:xfrm>
          <a:prstGeom prst="roundRect">
            <a:avLst>
              <a:gd name="adj" fmla="val 7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39" name="Инфографика 1039"/>
          <p:cNvSpPr/>
          <p:nvPr/>
        </p:nvSpPr>
        <p:spPr>
          <a:xfrm>
            <a:off x="5861304" y="1481328"/>
            <a:ext cx="731520" cy="73152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8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РЛ</a:t>
            </a:r>
          </a:p>
        </p:txBody>
      </p:sp>
      <p:sp>
        <p:nvSpPr>
          <p:cNvPr id="1040" name="Инфографика 1040"/>
          <p:cNvSpPr/>
          <p:nvPr/>
        </p:nvSpPr>
        <p:spPr>
          <a:xfrm>
            <a:off x="5495544" y="22860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Литвиненко Ростислав Сергеевич</a:t>
            </a:r>
          </a:p>
        </p:txBody>
      </p:sp>
      <p:sp>
        <p:nvSpPr>
          <p:cNvPr id="1041" name="Инфографика 1041"/>
          <p:cNvSpPr/>
          <p:nvPr/>
        </p:nvSpPr>
        <p:spPr>
          <a:xfrm>
            <a:off x="5559552" y="2880360"/>
            <a:ext cx="1335024" cy="384048"/>
          </a:xfrm>
          <a:prstGeom prst="roundRect">
            <a:avLst>
              <a:gd name="adj" fmla="val 40000"/>
            </a:avLst>
          </a:prstGeom>
          <a:solidFill>
            <a:srgbClr val="DAD1FF"/>
          </a:solidFill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Разработчик (back-end)</a:t>
            </a:r>
          </a:p>
        </p:txBody>
      </p:sp>
      <p:sp>
        <p:nvSpPr>
          <p:cNvPr id="1042" name="Инфографика 1042"/>
          <p:cNvSpPr/>
          <p:nvPr/>
        </p:nvSpPr>
        <p:spPr>
          <a:xfrm>
            <a:off x="5513832" y="3310128"/>
            <a:ext cx="1426464" cy="11430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Серверная часть платформы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Работал в IT-компании</a:t>
            </a:r>
          </a:p>
        </p:txBody>
      </p:sp>
      <p:sp>
        <p:nvSpPr>
          <p:cNvPr id="1043" name="Инфографика 1043"/>
          <p:cNvSpPr/>
          <p:nvPr/>
        </p:nvSpPr>
        <p:spPr>
          <a:xfrm>
            <a:off x="7114032" y="1371600"/>
            <a:ext cx="1554480" cy="3108960"/>
          </a:xfrm>
          <a:prstGeom prst="roundRect">
            <a:avLst>
              <a:gd name="adj" fmla="val 7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44" name="Инфографика 1044"/>
          <p:cNvSpPr/>
          <p:nvPr/>
        </p:nvSpPr>
        <p:spPr>
          <a:xfrm>
            <a:off x="7525512" y="1481328"/>
            <a:ext cx="731520" cy="73152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8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МО</a:t>
            </a:r>
          </a:p>
        </p:txBody>
      </p:sp>
      <p:sp>
        <p:nvSpPr>
          <p:cNvPr id="1045" name="Инфографика 1045"/>
          <p:cNvSpPr/>
          <p:nvPr/>
        </p:nvSpPr>
        <p:spPr>
          <a:xfrm>
            <a:off x="7159752" y="22860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Обманкина Мария Юрьевна</a:t>
            </a:r>
          </a:p>
        </p:txBody>
      </p:sp>
      <p:sp>
        <p:nvSpPr>
          <p:cNvPr id="1046" name="Инфографика 1046"/>
          <p:cNvSpPr/>
          <p:nvPr/>
        </p:nvSpPr>
        <p:spPr>
          <a:xfrm>
            <a:off x="7223760" y="2880360"/>
            <a:ext cx="1335024" cy="384048"/>
          </a:xfrm>
          <a:prstGeom prst="roundRect">
            <a:avLst>
              <a:gd name="adj" fmla="val 40000"/>
            </a:avLst>
          </a:prstGeom>
          <a:solidFill>
            <a:srgbClr val="DAD1FF"/>
          </a:solidFill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9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Аналитик</a:t>
            </a:r>
          </a:p>
        </p:txBody>
      </p:sp>
      <p:sp>
        <p:nvSpPr>
          <p:cNvPr id="1047" name="Инфографика 1047"/>
          <p:cNvSpPr/>
          <p:nvPr/>
        </p:nvSpPr>
        <p:spPr>
          <a:xfrm>
            <a:off x="7178040" y="3310128"/>
            <a:ext cx="1426464" cy="11430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Анализ рынка, общение с компаниями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9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Опыт общения с руководителями малого и среднего бизнеса</a:t>
            </a:r>
          </a:p>
        </p:txBody>
      </p:sp>
      <p:sp>
        <p:nvSpPr>
          <p:cNvPr id="1048" name="Инфографика 1048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Студенты 1 курса, Корпоративные финансы, Финансовый университет · наставник: Елбаева Наталья Абуевна</a:t>
            </a:r>
          </a:p>
        </p:txBody>
      </p:sp>
      <p:sp>
        <p:nvSpPr>
          <p:cNvPr id="1049" name="Лого Финуниверситета 1049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50" name="Лого Финуниверситета 1050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94" name="Google Shape;194;p13"/>
          <p:cNvSpPr txBox="1"/>
          <p:nvPr/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78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" sz="2600" u="none" cap="none" strike="noStrike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ПАРТНЕРЫ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Инфографика 1051"/>
          <p:cNvSpPr/>
          <p:nvPr/>
        </p:nvSpPr>
        <p:spPr>
          <a:xfrm>
            <a:off x="457200" y="1371600"/>
            <a:ext cx="2606040" cy="21031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52" name="Инфографика 1052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5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</a:t>
            </a:r>
          </a:p>
        </p:txBody>
      </p:sp>
      <p:sp>
        <p:nvSpPr>
          <p:cNvPr id="1053" name="Инфографика 1053"/>
          <p:cNvSpPr/>
          <p:nvPr/>
        </p:nvSpPr>
        <p:spPr>
          <a:xfrm>
            <a:off x="566928" y="2057400"/>
            <a:ext cx="2377440" cy="137160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Бизнес-ассоциации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площадка для пилота и канал привлечения первых клиентов</a:t>
            </a:r>
          </a:p>
        </p:txBody>
      </p:sp>
      <p:sp>
        <p:nvSpPr>
          <p:cNvPr id="1054" name="Инфографика 1054"/>
          <p:cNvSpPr/>
          <p:nvPr/>
        </p:nvSpPr>
        <p:spPr>
          <a:xfrm>
            <a:off x="3246120" y="1371600"/>
            <a:ext cx="2606040" cy="21031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55" name="Инфографика 1055"/>
          <p:cNvSpPr/>
          <p:nvPr/>
        </p:nvSpPr>
        <p:spPr>
          <a:xfrm>
            <a:off x="3383279" y="1508760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5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2</a:t>
            </a:r>
          </a:p>
        </p:txBody>
      </p:sp>
      <p:sp>
        <p:nvSpPr>
          <p:cNvPr id="1056" name="Инфографика 1056"/>
          <p:cNvSpPr/>
          <p:nvPr/>
        </p:nvSpPr>
        <p:spPr>
          <a:xfrm>
            <a:off x="3355848" y="2057400"/>
            <a:ext cx="2377440" cy="137160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Юристы-эксперты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проверка значимых изменений, экспертные заключения</a:t>
            </a:r>
          </a:p>
        </p:txBody>
      </p:sp>
      <p:sp>
        <p:nvSpPr>
          <p:cNvPr id="1057" name="Инфографика 1057"/>
          <p:cNvSpPr/>
          <p:nvPr/>
        </p:nvSpPr>
        <p:spPr>
          <a:xfrm>
            <a:off x="6035040" y="1371600"/>
            <a:ext cx="2606040" cy="210312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58" name="Инфографика 1058"/>
          <p:cNvSpPr/>
          <p:nvPr/>
        </p:nvSpPr>
        <p:spPr>
          <a:xfrm>
            <a:off x="6172200" y="1508760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5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3</a:t>
            </a:r>
          </a:p>
        </p:txBody>
      </p:sp>
      <p:sp>
        <p:nvSpPr>
          <p:cNvPr id="1059" name="Инфографика 1059"/>
          <p:cNvSpPr/>
          <p:nvPr/>
        </p:nvSpPr>
        <p:spPr>
          <a:xfrm>
            <a:off x="6144768" y="2057400"/>
            <a:ext cx="2377440" cy="137160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Бухгалтеры и юристы на аутсорсе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партнёрская сеть, реферальная программа, кабинет для нескольких клиентов</a:t>
            </a:r>
          </a:p>
        </p:txBody>
      </p:sp>
      <p:sp>
        <p:nvSpPr>
          <p:cNvPr id="1060" name="Инфографика 1060"/>
          <p:cNvSpPr/>
          <p:nvPr/>
        </p:nvSpPr>
        <p:spPr>
          <a:xfrm>
            <a:off x="457200" y="3703320"/>
            <a:ext cx="8229600" cy="502920"/>
          </a:xfrm>
          <a:prstGeom prst="roundRect">
            <a:avLst>
              <a:gd name="adj" fmla="val 20000"/>
            </a:avLst>
          </a:prstGeom>
          <a:solidFill>
            <a:srgbClr val="8F00FF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Проект инициирован командой: задачи от партнёра в его основе нет</a:t>
            </a:r>
          </a:p>
        </p:txBody>
      </p:sp>
      <p:sp>
        <p:nvSpPr>
          <p:cNvPr id="1061" name="Инфографика 1061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8F00FF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Статус: партнёры пока не привлечены, переговоры запланированы</a:t>
            </a:r>
          </a:p>
        </p:txBody>
      </p:sp>
      <p:sp>
        <p:nvSpPr>
          <p:cNvPr id="1062" name="Лого Финуниверситета 1062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63" name="Лого Финуниверситета 1063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4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ru" sz="26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ТЕКУЩИЕ РЕЗУЛЬТАТЫ И ПЛАНЫ РАЗВИТИЯ</a:t>
            </a:r>
            <a:endParaRPr sz="2800">
              <a:solidFill>
                <a:schemeClr val="dk2"/>
              </a:solidFill>
            </a:endParaRPr>
          </a:p>
        </p:txBody>
      </p:sp>
      <p:sp>
        <p:nvSpPr>
          <p:cNvPr id="202" name="Google Shape;202;p14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064" name="Инфографика 1064"/>
          <p:cNvSpPr/>
          <p:nvPr/>
        </p:nvSpPr>
        <p:spPr>
          <a:xfrm>
            <a:off x="457200" y="1371600"/>
            <a:ext cx="1737360" cy="548640"/>
          </a:xfrm>
          <a:prstGeom prst="homePlate">
            <a:avLst>
              <a:gd name="adj" fmla="val 30000"/>
            </a:avLst>
          </a:prstGeom>
          <a:solidFill>
            <a:srgbClr val="FCAF17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Сделано</a:t>
            </a:r>
          </a:p>
        </p:txBody>
      </p:sp>
      <p:sp>
        <p:nvSpPr>
          <p:cNvPr id="1065" name="Инфографика 1065"/>
          <p:cNvSpPr/>
          <p:nvPr/>
        </p:nvSpPr>
        <p:spPr>
          <a:xfrm>
            <a:off x="457200" y="2057400"/>
            <a:ext cx="1554480" cy="219456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Концепция и ТЗ · интерактивный демо-прототип · экономическая модель и тарифы · one-pager, паспорта, план бета-теста</a:t>
            </a:r>
          </a:p>
        </p:txBody>
      </p:sp>
      <p:sp>
        <p:nvSpPr>
          <p:cNvPr id="1066" name="Инфографика 1066"/>
          <p:cNvSpPr/>
          <p:nvPr/>
        </p:nvSpPr>
        <p:spPr>
          <a:xfrm>
            <a:off x="2121408" y="1371600"/>
            <a:ext cx="1737360" cy="548640"/>
          </a:xfrm>
          <a:prstGeom prst="chevron">
            <a:avLst>
              <a:gd name="adj" fmla="val 30000"/>
            </a:avLst>
          </a:prstGeom>
          <a:solidFill>
            <a:srgbClr val="8F00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1–3 мес.</a:t>
            </a:r>
          </a:p>
        </p:txBody>
      </p:sp>
      <p:sp>
        <p:nvSpPr>
          <p:cNvPr id="1067" name="Инфографика 1067"/>
          <p:cNvSpPr/>
          <p:nvPr/>
        </p:nvSpPr>
        <p:spPr>
          <a:xfrm>
            <a:off x="2121408" y="2057400"/>
            <a:ext cx="1554480" cy="219456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CustDev: 15–20 интервью · закрытая бета без монетизации · 30–50 тестовых компаний</a:t>
            </a:r>
          </a:p>
        </p:txBody>
      </p:sp>
      <p:sp>
        <p:nvSpPr>
          <p:cNvPr id="1068" name="Инфографика 1068"/>
          <p:cNvSpPr/>
          <p:nvPr/>
        </p:nvSpPr>
        <p:spPr>
          <a:xfrm>
            <a:off x="3785616" y="1371600"/>
            <a:ext cx="1737360" cy="548640"/>
          </a:xfrm>
          <a:prstGeom prst="chevron">
            <a:avLst>
              <a:gd name="adj" fmla="val 30000"/>
            </a:avLst>
          </a:prstGeom>
          <a:solidFill>
            <a:srgbClr val="8F00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3–6 мес.</a:t>
            </a:r>
          </a:p>
        </p:txBody>
      </p:sp>
      <p:sp>
        <p:nvSpPr>
          <p:cNvPr id="1069" name="Инфографика 1069"/>
          <p:cNvSpPr/>
          <p:nvPr/>
        </p:nvSpPr>
        <p:spPr>
          <a:xfrm>
            <a:off x="3785616" y="2057400"/>
            <a:ext cx="1554480" cy="219456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Telegram-бот · ИИ-разбор источников · платные тарифы · первые партнёры</a:t>
            </a:r>
          </a:p>
        </p:txBody>
      </p:sp>
      <p:sp>
        <p:nvSpPr>
          <p:cNvPr id="1070" name="Инфографика 1070"/>
          <p:cNvSpPr/>
          <p:nvPr/>
        </p:nvSpPr>
        <p:spPr>
          <a:xfrm>
            <a:off x="5449824" y="1371600"/>
            <a:ext cx="1737360" cy="548640"/>
          </a:xfrm>
          <a:prstGeom prst="chevron">
            <a:avLst>
              <a:gd name="adj" fmla="val 30000"/>
            </a:avLst>
          </a:prstGeom>
          <a:solidFill>
            <a:srgbClr val="8F00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6–12 мес.</a:t>
            </a:r>
          </a:p>
        </p:txBody>
      </p:sp>
      <p:sp>
        <p:nvSpPr>
          <p:cNvPr id="1071" name="Инфографика 1071"/>
          <p:cNvSpPr/>
          <p:nvPr/>
        </p:nvSpPr>
        <p:spPr>
          <a:xfrm>
            <a:off x="5449824" y="2057400"/>
            <a:ext cx="1554480" cy="219456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300–500 компаний · проверка юристом · регистрация программы для ЭВМ</a:t>
            </a:r>
          </a:p>
        </p:txBody>
      </p:sp>
      <p:sp>
        <p:nvSpPr>
          <p:cNvPr id="1072" name="Инфографика 1072"/>
          <p:cNvSpPr/>
          <p:nvPr/>
        </p:nvSpPr>
        <p:spPr>
          <a:xfrm>
            <a:off x="7114032" y="1371600"/>
            <a:ext cx="1737360" cy="548640"/>
          </a:xfrm>
          <a:prstGeom prst="chevron">
            <a:avLst>
              <a:gd name="adj" fmla="val 30000"/>
            </a:avLst>
          </a:prstGeom>
          <a:solidFill>
            <a:srgbClr val="8F00FF"/>
          </a:solidFill>
          <a:ln>
            <a:noFill/>
          </a:ln>
        </p:spPr>
        <p:txBody>
          <a:bodyPr wrap="square" lIns="128016" tIns="128016" rIns="128016" bIns="128016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12–18 мес.</a:t>
            </a:r>
          </a:p>
        </p:txBody>
      </p:sp>
      <p:sp>
        <p:nvSpPr>
          <p:cNvPr id="1073" name="Инфографика 1073"/>
          <p:cNvSpPr/>
          <p:nvPr/>
        </p:nvSpPr>
        <p:spPr>
          <a:xfrm>
            <a:off x="7114032" y="2057400"/>
            <a:ext cx="1554480" cy="219456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Безубыточность ≈335 платных клиентов · грант или инвестиции</a:t>
            </a:r>
          </a:p>
        </p:txBody>
      </p:sp>
      <p:sp>
        <p:nvSpPr>
          <p:cNvPr id="1074" name="Инфографика 1074"/>
          <p:cNvSpPr/>
          <p:nvPr/>
        </p:nvSpPr>
        <p:spPr>
          <a:xfrm>
            <a:off x="457200" y="4389120"/>
            <a:ext cx="8229600" cy="438912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8F00FF"/>
            </a:solidFill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Пока клиентов, договорённостей и инвестиций нет: ближайшая цель — CustDev и бета-тест</a:t>
            </a:r>
          </a:p>
        </p:txBody>
      </p:sp>
      <p:sp>
        <p:nvSpPr>
          <p:cNvPr id="1075" name="Лого Финуниверситета 1075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76" name="Лого Финуниверситета 1076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ru" sz="26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ЗАПРОС</a:t>
            </a:r>
            <a:endParaRPr b="1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09" name="Google Shape;209;p15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077" name="Инфографика 1077"/>
          <p:cNvSpPr/>
          <p:nvPr/>
        </p:nvSpPr>
        <p:spPr>
          <a:xfrm>
            <a:off x="457200" y="137160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Партнёрам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площадки для пилота, экспертиза юриста, канал привлечения 30–50 первых компаний</a:t>
            </a:r>
          </a:p>
        </p:txBody>
      </p:sp>
      <p:sp>
        <p:nvSpPr>
          <p:cNvPr id="1078" name="Инфографика 1078"/>
          <p:cNvSpPr/>
          <p:nvPr/>
        </p:nvSpPr>
        <p:spPr>
          <a:xfrm>
            <a:off x="3246120" y="137160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8F00FF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25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Инвесторам, фондам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500" b="1" i="0">
                <a:solidFill>
                  <a:srgbClr val="FCAF17"/>
                </a:solidFill>
                <a:latin typeface="Raleway"/>
                <a:ea typeface="Raleway"/>
                <a:cs typeface="Raleway"/>
                <a:sym typeface="Raleway"/>
              </a:rPr>
              <a:t xml:space="preserve">1,5–3 млн ₽ на 6–12 мес.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00" b="0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покрытие минимальных расходов (≈252 тыс. ₽/мес) до безубыточности: разработка, юрэкспертиза, маркетинг; сумма уточняется</a:t>
            </a:r>
          </a:p>
        </p:txBody>
      </p:sp>
      <p:sp>
        <p:nvSpPr>
          <p:cNvPr id="1079" name="Инфографика 1079"/>
          <p:cNvSpPr/>
          <p:nvPr/>
        </p:nvSpPr>
        <p:spPr>
          <a:xfrm>
            <a:off x="6035040" y="137160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EFE9FF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2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Университету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ru" sz="10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наставничество, юристы и ИИ-специалисты, облачные ресурсы, защита ИС</a:t>
            </a:r>
          </a:p>
        </p:txBody>
      </p:sp>
      <p:sp>
        <p:nvSpPr>
          <p:cNvPr id="1080" name="Инфографика 1080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Результат при получении ресурсов</a:t>
            </a:r>
          </a:p>
        </p:txBody>
      </p:sp>
      <p:sp>
        <p:nvSpPr>
          <p:cNvPr id="1081" name="Инфографика 1081"/>
          <p:cNvSpPr/>
          <p:nvPr/>
        </p:nvSpPr>
        <p:spPr>
          <a:xfrm>
            <a:off x="457200" y="393192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Бета с ИИ-разбором и Telegram-ботом</a:t>
            </a:r>
          </a:p>
        </p:txBody>
      </p:sp>
      <p:sp>
        <p:nvSpPr>
          <p:cNvPr id="1082" name="Инфографика 1082"/>
          <p:cNvSpPr/>
          <p:nvPr/>
        </p:nvSpPr>
        <p:spPr>
          <a:xfrm>
            <a:off x="2542032" y="393192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30–50 тестовых компаний</a:t>
            </a:r>
          </a:p>
        </p:txBody>
      </p:sp>
      <p:sp>
        <p:nvSpPr>
          <p:cNvPr id="1083" name="Инфографика 1083"/>
          <p:cNvSpPr/>
          <p:nvPr/>
        </p:nvSpPr>
        <p:spPr>
          <a:xfrm>
            <a:off x="4626864" y="393192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Первые платящие клиенты</a:t>
            </a:r>
          </a:p>
        </p:txBody>
      </p:sp>
      <p:sp>
        <p:nvSpPr>
          <p:cNvPr id="1084" name="Инфографика 1084"/>
          <p:cNvSpPr/>
          <p:nvPr/>
        </p:nvSpPr>
        <p:spPr>
          <a:xfrm>
            <a:off x="6711696" y="393192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Проверенные гипотезы ценности</a:t>
            </a:r>
          </a:p>
        </p:txBody>
      </p:sp>
      <p:sp>
        <p:nvSpPr>
          <p:cNvPr id="1085" name="Лого Финуниверситета 1085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86" name="Лого Финуниверситета 1086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58300" lIns="58300" spcFirstLastPara="1" rIns="58300" wrap="square" tIns="583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ru" sz="2600">
                <a:solidFill>
                  <a:schemeClr val="dk2"/>
                </a:solidFill>
              </a:rPr>
              <a:t>КОНТАКТЫ ЛИДЕРА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217" name="Google Shape;217;p16"/>
          <p:cNvSpPr txBox="1"/>
          <p:nvPr>
            <p:ph idx="12" type="sldNum"/>
          </p:nvPr>
        </p:nvSpPr>
        <p:spPr>
          <a:xfrm>
            <a:off x="8556784" y="4749851"/>
            <a:ext cx="548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 sz="900"/>
              <a:t>‹#›</a:t>
            </a:fld>
            <a:endParaRPr sz="900"/>
          </a:p>
        </p:txBody>
      </p:sp>
      <p:sp>
        <p:nvSpPr>
          <p:cNvPr id="1087" name="Инфографика 1087"/>
          <p:cNvSpPr/>
          <p:nvPr/>
        </p:nvSpPr>
        <p:spPr>
          <a:xfrm>
            <a:off x="640080" y="2103120"/>
            <a:ext cx="1554480" cy="155448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4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АЛ</a:t>
            </a:r>
          </a:p>
        </p:txBody>
      </p:sp>
      <p:sp>
        <p:nvSpPr>
          <p:cNvPr id="1088" name="Инфографика 1088"/>
          <p:cNvSpPr/>
          <p:nvPr/>
        </p:nvSpPr>
        <p:spPr>
          <a:xfrm>
            <a:off x="2423160" y="1600200"/>
            <a:ext cx="3931920" cy="3108960"/>
          </a:xfrm>
          <a:prstGeom prst="roundRect">
            <a:avLst>
              <a:gd name="adj" fmla="val 6000"/>
            </a:avLst>
          </a:prstGeom>
          <a:solidFill>
            <a:srgbClr val="EFE9FF"/>
          </a:solidFill>
          <a:ln>
            <a:noFill/>
          </a:ln>
        </p:spPr>
        <p:txBody>
          <a:bodyPr wrap="square" lIns="182880" tIns="182880" rIns="182880" bIns="18288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6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Лерер Антон Ильич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050" b="0" i="0">
                <a:solidFill>
                  <a:srgbClr val="5B5870"/>
                </a:solidFill>
                <a:latin typeface="Raleway"/>
                <a:ea typeface="Raleway"/>
                <a:cs typeface="Raleway"/>
                <a:sym typeface="Raleway"/>
              </a:rPr>
              <a:t xml:space="preserve">Лидер команды LawTracker · 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1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Телефон: +7 916 484-45-10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1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E-mail: antoxa.lerer@gmail.com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1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Leader-ID: leader-id.ru/users/7792463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" sz="115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Демо: rostislavlit.github.io/lawtracker</a:t>
            </a:r>
          </a:p>
        </p:txBody>
      </p:sp>
      <p:sp>
        <p:nvSpPr>
          <p:cNvPr id="1089" name="Инфографика 1089"/>
          <p:cNvSpPr/>
          <p:nvPr/>
        </p:nvSpPr>
        <p:spPr>
          <a:xfrm>
            <a:off x="6537960" y="1600200"/>
            <a:ext cx="21488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F00FF"/>
            </a:solidFill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pic>
        <p:nvPicPr>
          <p:cNvPr id="1091" name="Picture 1091" descr="QR-код демо-версии сайта"/>
          <p:cNvPicPr>
            <a:picLocks noChangeAspect="1"/>
          </p:cNvPicPr>
          <p:nvPr/>
        </p:nvPicPr>
        <p:blipFill>
          <a:blip r:embed="rIdAdd1090"/>
          <a:stretch>
            <a:fillRect/>
          </a:stretch>
        </p:blipFill>
        <p:spPr>
          <a:xfrm>
            <a:off x="6675120" y="1737360"/>
            <a:ext cx="1874519" cy="1874519"/>
          </a:xfrm>
          <a:prstGeom prst="rect">
            <a:avLst/>
          </a:prstGeom>
        </p:spPr>
      </p:pic>
      <p:sp>
        <p:nvSpPr>
          <p:cNvPr id="1092" name="Инфографика 1092"/>
          <p:cNvSpPr/>
          <p:nvPr/>
        </p:nvSpPr>
        <p:spPr>
          <a:xfrm>
            <a:off x="6537960" y="3675887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5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Демо-версия сайта</a:t>
            </a:r>
          </a:p>
        </p:txBody>
      </p:sp>
      <p:sp>
        <p:nvSpPr>
          <p:cNvPr id="1093" name="Лого Финуниверситета 1093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094" name="Лого Финуниверситета 1094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7"/>
          <p:cNvSpPr txBox="1"/>
          <p:nvPr>
            <p:ph type="title"/>
          </p:nvPr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ru" sz="2600">
                <a:solidFill>
                  <a:schemeClr val="dk2"/>
                </a:solidFill>
              </a:rPr>
              <a:t>Приложения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26" name="Google Shape;226;p17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95" name="Инфографика 1095"/>
          <p:cNvSpPr/>
          <p:nvPr/>
        </p:nvSpPr>
        <p:spPr>
          <a:xfrm>
            <a:off x="457200" y="1371600"/>
            <a:ext cx="4023360" cy="96012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96" name="Инфографика 1096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1</a:t>
            </a:r>
          </a:p>
        </p:txBody>
      </p:sp>
      <p:sp>
        <p:nvSpPr>
          <p:cNvPr id="1097" name="Инфографика 1097"/>
          <p:cNvSpPr/>
          <p:nvPr/>
        </p:nvSpPr>
        <p:spPr>
          <a:xfrm>
            <a:off x="1188720" y="146304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Демо-версия сайта (rostislavlit.github.io/lawtracker)</a:t>
            </a:r>
          </a:p>
        </p:txBody>
      </p:sp>
      <p:sp>
        <p:nvSpPr>
          <p:cNvPr id="1098" name="Инфографика 1098"/>
          <p:cNvSpPr/>
          <p:nvPr/>
        </p:nvSpPr>
        <p:spPr>
          <a:xfrm>
            <a:off x="4663440" y="1371600"/>
            <a:ext cx="4023360" cy="96012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099" name="Инфографика 1099"/>
          <p:cNvSpPr/>
          <p:nvPr/>
        </p:nvSpPr>
        <p:spPr>
          <a:xfrm>
            <a:off x="4800600" y="1618488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2</a:t>
            </a:r>
          </a:p>
        </p:txBody>
      </p:sp>
      <p:sp>
        <p:nvSpPr>
          <p:cNvPr id="1100" name="Инфографика 1100"/>
          <p:cNvSpPr/>
          <p:nvPr/>
        </p:nvSpPr>
        <p:spPr>
          <a:xfrm>
            <a:off x="5394959" y="146304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One-pager проекта (PDF)</a:t>
            </a:r>
          </a:p>
        </p:txBody>
      </p:sp>
      <p:sp>
        <p:nvSpPr>
          <p:cNvPr id="1101" name="Инфографика 1101"/>
          <p:cNvSpPr/>
          <p:nvPr/>
        </p:nvSpPr>
        <p:spPr>
          <a:xfrm>
            <a:off x="457200" y="2468880"/>
            <a:ext cx="4023360" cy="96012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102" name="Инфографика 1102"/>
          <p:cNvSpPr/>
          <p:nvPr/>
        </p:nvSpPr>
        <p:spPr>
          <a:xfrm>
            <a:off x="594360" y="2715768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3</a:t>
            </a:r>
          </a:p>
        </p:txBody>
      </p:sp>
      <p:sp>
        <p:nvSpPr>
          <p:cNvPr id="1103" name="Инфографика 1103"/>
          <p:cNvSpPr/>
          <p:nvPr/>
        </p:nvSpPr>
        <p:spPr>
          <a:xfrm>
            <a:off x="1188720" y="256032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Паспорт стартап-проекта и паспорт команды</a:t>
            </a:r>
          </a:p>
        </p:txBody>
      </p:sp>
      <p:sp>
        <p:nvSpPr>
          <p:cNvPr id="1104" name="Инфографика 1104"/>
          <p:cNvSpPr/>
          <p:nvPr/>
        </p:nvSpPr>
        <p:spPr>
          <a:xfrm>
            <a:off x="4663440" y="2468880"/>
            <a:ext cx="4023360" cy="96012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105" name="Инфографика 1105"/>
          <p:cNvSpPr/>
          <p:nvPr/>
        </p:nvSpPr>
        <p:spPr>
          <a:xfrm>
            <a:off x="4800600" y="2715768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4</a:t>
            </a:r>
          </a:p>
        </p:txBody>
      </p:sp>
      <p:sp>
        <p:nvSpPr>
          <p:cNvPr id="1106" name="Инфографика 1106"/>
          <p:cNvSpPr/>
          <p:nvPr/>
        </p:nvSpPr>
        <p:spPr>
          <a:xfrm>
            <a:off x="5394959" y="256032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Экономическая модель и расчёт тарифов (Excel)</a:t>
            </a:r>
          </a:p>
        </p:txBody>
      </p:sp>
      <p:sp>
        <p:nvSpPr>
          <p:cNvPr id="1107" name="Инфографика 1107"/>
          <p:cNvSpPr/>
          <p:nvPr/>
        </p:nvSpPr>
        <p:spPr>
          <a:xfrm>
            <a:off x="457200" y="3566160"/>
            <a:ext cx="4023360" cy="96012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108" name="Инфографика 1108"/>
          <p:cNvSpPr/>
          <p:nvPr/>
        </p:nvSpPr>
        <p:spPr>
          <a:xfrm>
            <a:off x="594360" y="3813048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5</a:t>
            </a:r>
          </a:p>
        </p:txBody>
      </p:sp>
      <p:sp>
        <p:nvSpPr>
          <p:cNvPr id="1109" name="Инфографика 1109"/>
          <p:cNvSpPr/>
          <p:nvPr/>
        </p:nvSpPr>
        <p:spPr>
          <a:xfrm>
            <a:off x="1188720" y="365760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План бета-тестирования и перечень функций</a:t>
            </a:r>
          </a:p>
        </p:txBody>
      </p:sp>
      <p:sp>
        <p:nvSpPr>
          <p:cNvPr id="1110" name="Инфографика 1110"/>
          <p:cNvSpPr/>
          <p:nvPr/>
        </p:nvSpPr>
        <p:spPr>
          <a:xfrm>
            <a:off x="4663440" y="3566160"/>
            <a:ext cx="4023360" cy="960120"/>
          </a:xfrm>
          <a:prstGeom prst="roundRect">
            <a:avLst>
              <a:gd name="adj" fmla="val 10000"/>
            </a:avLst>
          </a:prstGeom>
          <a:solidFill>
            <a:srgbClr val="EFE9FF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endParaRPr lang="ru"/>
          </a:p>
        </p:txBody>
      </p:sp>
      <p:sp>
        <p:nvSpPr>
          <p:cNvPr id="1111" name="Инфографика 1111"/>
          <p:cNvSpPr/>
          <p:nvPr/>
        </p:nvSpPr>
        <p:spPr>
          <a:xfrm>
            <a:off x="4800600" y="3813048"/>
            <a:ext cx="457200" cy="457200"/>
          </a:xfrm>
          <a:prstGeom prst="ellipse">
            <a:avLst/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4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6</a:t>
            </a:r>
          </a:p>
        </p:txBody>
      </p:sp>
      <p:sp>
        <p:nvSpPr>
          <p:cNvPr id="1112" name="Инфографика 1112"/>
          <p:cNvSpPr/>
          <p:nvPr/>
        </p:nvSpPr>
        <p:spPr>
          <a:xfrm>
            <a:off x="5394959" y="365760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150" b="1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Макеты сайта: палитры, шрифты, логотипы</a:t>
            </a:r>
          </a:p>
        </p:txBody>
      </p:sp>
      <p:sp>
        <p:nvSpPr>
          <p:cNvPr id="1113" name="Лого Финуниверситета 1113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114" name="Лого Финуниверситета 1114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8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32" name="Google Shape;232;p18"/>
          <p:cNvSpPr txBox="1"/>
          <p:nvPr/>
        </p:nvSpPr>
        <p:spPr>
          <a:xfrm>
            <a:off x="457200" y="731520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16375" lIns="16375" spcFirstLastPara="1" rIns="16375" wrap="square" tIns="78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" sz="2600" u="none" cap="none" strike="noStrike">
                <a:solidFill>
                  <a:schemeClr val="dk2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УРОВЕНЬ ГОТОВНОСТИ ТЕХНОЛОГИИ</a:t>
            </a:r>
            <a:endParaRPr b="0" i="0" sz="800" u="none" cap="none" strike="noStrike">
              <a:solidFill>
                <a:schemeClr val="dk2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33" name="Google Shape;233;p18"/>
          <p:cNvSpPr/>
          <p:nvPr/>
        </p:nvSpPr>
        <p:spPr>
          <a:xfrm>
            <a:off x="4480560" y="1325880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0775" lIns="41575" spcFirstLastPara="1" rIns="41575" wrap="square" tIns="20775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b="0" i="0">
                <a:solidFill>
                  <a:srgbClr val="1E1B2E"/>
                </a:solidFill>
                <a:latin typeface="Raleway"/>
                <a:ea typeface="Raleway"/>
                <a:cs typeface="Raleway"/>
                <a:sym typeface="Raleway"/>
              </a:rPr>
              <a:t xml:space="preserve">Текущий уровень — TRL 3–4: концепция, экономическая модель и демо-прототип готовы; серверная часть и ИИ-разбор в разработке.</a:t>
            </a:r>
          </a:p>
        </p:txBody>
      </p:sp>
      <p:sp>
        <p:nvSpPr>
          <p:cNvPr id="234" name="Google Shape;234;p18"/>
          <p:cNvSpPr/>
          <p:nvPr/>
        </p:nvSpPr>
        <p:spPr>
          <a:xfrm>
            <a:off x="382422" y="1987876"/>
            <a:ext cx="4344300" cy="1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75" lIns="41575" spcFirstLastPara="1" rIns="41575" wrap="square" tIns="207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ru" sz="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ОПИСАНИЕ УРОВНЕЙ ГОТОВНОСТИ И СООТВЕТСТВУЮЩИХ ИМ АРТЕФАКТОВ</a:t>
            </a:r>
            <a:endParaRPr b="0" i="1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35" name="Google Shape;235;p18"/>
          <p:cNvGraphicFramePr/>
          <p:nvPr/>
        </p:nvGraphicFramePr>
        <p:xfrm>
          <a:off x="382422" y="23315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{C72D56B8-7595-4582-9F2E-E89A1C61815A}</a:tableStyleId>
              </a:tblPr>
              <a:tblGrid>
                <a:gridCol w="975550"/>
                <a:gridCol w="3449300"/>
                <a:gridCol w="3623525"/>
              </a:tblGrid>
              <a:tr h="526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Уровень готовности технологии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Краткое описание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Артефакт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4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1-3</a:t>
                      </a:r>
                      <a:endParaRPr sz="9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Формирование концепции, лабораторные исследования, создание макета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Научные статьи, отчеты о моделировании, письма заинтересованности от партнеров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4-6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0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Создание прототипа, подтверждение характеристик в лабораторных условиях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0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sz="9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0D9"/>
                    </a:solidFill>
                  </a:tcPr>
                </a:tc>
              </a:tr>
              <a:tr h="346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7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Пилотирование проекта (опытные испытания)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Видеодемонстрация работы прототипа в промышленных условиях, отчет независимого тестирования.</a:t>
                      </a:r>
                      <a:endParaRPr sz="9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1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8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Предсерийное производство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sz="9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9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Серийное производство, коммерческое использование</a:t>
                      </a:r>
                      <a:endParaRPr sz="8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ru" sz="900" u="none" cap="none" strike="noStrike">
                          <a:solidFill>
                            <a:schemeClr val="dk2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Контракты на продажу, фото серийного производства, отзывы клиентов.</a:t>
                      </a:r>
                      <a:endParaRPr sz="900" u="none" cap="none" strike="noStrike">
                        <a:solidFill>
                          <a:schemeClr val="dk2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T="20800" marB="20800" marR="41600" marL="41600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15" name="Инфографика 1115"/>
          <p:cNvSpPr/>
          <p:nvPr/>
        </p:nvSpPr>
        <p:spPr>
          <a:xfrm>
            <a:off x="457200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1</a:t>
            </a:r>
          </a:p>
        </p:txBody>
      </p:sp>
      <p:sp>
        <p:nvSpPr>
          <p:cNvPr id="1116" name="Инфографика 1116"/>
          <p:cNvSpPr/>
          <p:nvPr/>
        </p:nvSpPr>
        <p:spPr>
          <a:xfrm>
            <a:off x="905256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2</a:t>
            </a:r>
          </a:p>
        </p:txBody>
      </p:sp>
      <p:sp>
        <p:nvSpPr>
          <p:cNvPr id="1117" name="Инфографика 1117"/>
          <p:cNvSpPr/>
          <p:nvPr/>
        </p:nvSpPr>
        <p:spPr>
          <a:xfrm>
            <a:off x="1353312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3</a:t>
            </a:r>
          </a:p>
        </p:txBody>
      </p:sp>
      <p:sp>
        <p:nvSpPr>
          <p:cNvPr id="1118" name="Инфографика 1118"/>
          <p:cNvSpPr/>
          <p:nvPr/>
        </p:nvSpPr>
        <p:spPr>
          <a:xfrm>
            <a:off x="1801368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8F0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4</a:t>
            </a:r>
          </a:p>
        </p:txBody>
      </p:sp>
      <p:sp>
        <p:nvSpPr>
          <p:cNvPr id="1119" name="Инфографика 1119"/>
          <p:cNvSpPr/>
          <p:nvPr/>
        </p:nvSpPr>
        <p:spPr>
          <a:xfrm>
            <a:off x="2249424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5</a:t>
            </a:r>
          </a:p>
        </p:txBody>
      </p:sp>
      <p:sp>
        <p:nvSpPr>
          <p:cNvPr id="1120" name="Инфографика 1120"/>
          <p:cNvSpPr/>
          <p:nvPr/>
        </p:nvSpPr>
        <p:spPr>
          <a:xfrm>
            <a:off x="2697480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6</a:t>
            </a:r>
          </a:p>
        </p:txBody>
      </p:sp>
      <p:sp>
        <p:nvSpPr>
          <p:cNvPr id="1121" name="Инфографика 1121"/>
          <p:cNvSpPr/>
          <p:nvPr/>
        </p:nvSpPr>
        <p:spPr>
          <a:xfrm>
            <a:off x="3145536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7</a:t>
            </a:r>
          </a:p>
        </p:txBody>
      </p:sp>
      <p:sp>
        <p:nvSpPr>
          <p:cNvPr id="1122" name="Инфографика 1122"/>
          <p:cNvSpPr/>
          <p:nvPr/>
        </p:nvSpPr>
        <p:spPr>
          <a:xfrm>
            <a:off x="3593591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8</a:t>
            </a:r>
          </a:p>
        </p:txBody>
      </p:sp>
      <p:sp>
        <p:nvSpPr>
          <p:cNvPr id="1123" name="Инфографика 1123"/>
          <p:cNvSpPr/>
          <p:nvPr/>
        </p:nvSpPr>
        <p:spPr>
          <a:xfrm>
            <a:off x="4041648" y="1417320"/>
            <a:ext cx="402336" cy="457200"/>
          </a:xfrm>
          <a:prstGeom prst="roundRect">
            <a:avLst>
              <a:gd name="adj" fmla="val 15000"/>
            </a:avLst>
          </a:prstGeom>
          <a:solidFill>
            <a:srgbClr val="DAD1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200" b="1" i="0">
                <a:solidFill>
                  <a:srgbClr val="8F00FF"/>
                </a:solidFill>
                <a:latin typeface="Raleway"/>
                <a:ea typeface="Raleway"/>
                <a:cs typeface="Raleway"/>
                <a:sym typeface="Raleway"/>
              </a:rPr>
              <a:t xml:space="preserve">9</a:t>
            </a:r>
          </a:p>
        </p:txBody>
      </p:sp>
      <p:sp>
        <p:nvSpPr>
          <p:cNvPr id="1124" name="Лого Финуниверситета 1124"/>
          <p:cNvSpPr/>
          <p:nvPr/>
        </p:nvSpPr>
        <p:spPr>
          <a:xfrm>
            <a:off x="1938528" y="128016"/>
            <a:ext cx="402336" cy="402336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" sz="1000" b="1" i="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 xml:space="preserve">ФУ</a:t>
            </a:r>
          </a:p>
        </p:txBody>
      </p:sp>
      <p:sp>
        <p:nvSpPr>
          <p:cNvPr id="1125" name="Лого Финуниверситета 1125"/>
          <p:cNvSpPr/>
          <p:nvPr/>
        </p:nvSpPr>
        <p:spPr>
          <a:xfrm>
            <a:off x="2395728" y="100584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50" b="1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ФИНАНСОВЫЙ УНИВЕРСИТЕТ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0" i="0">
                <a:solidFill>
                  <a:srgbClr val="1B3A6B"/>
                </a:solidFill>
                <a:latin typeface="Raleway"/>
                <a:ea typeface="Raleway"/>
                <a:cs typeface="Raleway"/>
                <a:sym typeface="Raleway"/>
              </a:rPr>
              <a:t xml:space="preserve">при Правительстве РФ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8F00FF"/>
      </a:dk1>
      <a:lt1>
        <a:srgbClr val="FFFFFF"/>
      </a:lt1>
      <a:dk2>
        <a:srgbClr val="000000"/>
      </a:dk2>
      <a:lt2>
        <a:srgbClr val="000000"/>
      </a:lt2>
      <a:accent1>
        <a:srgbClr val="FBB3C1"/>
      </a:accent1>
      <a:accent2>
        <a:srgbClr val="FCAF17"/>
      </a:accent2>
      <a:accent3>
        <a:srgbClr val="FD493D"/>
      </a:accent3>
      <a:accent4>
        <a:srgbClr val="DBE6FD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
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Raleway SemiBold"/>
      <p:regular r:id="rId31"/>
      <p:bold r:id="rId32"/>
      <p:italic r:id="rId33"/>
      <p:boldItalic r:id="rId34"/>
    </p:embeddedFont>
    <p:embeddedFont>
      <p:font typeface="Raleway Medium"/>
      <p:regular r:id="rId35"/>
      <p:bold r:id="rId36"/>
      <p:italic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F287D7-C137-4E24-955F-E27BD1F2969A}">
  <a:tblStyle styleId="{80F287D7-C137-4E24-955F-E27BD1F2969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A8806B7-1CC3-45F2-A57A-C81C1C6ABB9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slide" Target="slides/slide14.xml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slide" Target="slides/slide16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5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8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7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SemiBold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RalewaySemiBold-italic.fntdata"/><Relationship Id="rId10" Type="http://schemas.openxmlformats.org/officeDocument/2006/relationships/slide" Target="slides/slide4.xml"/><Relationship Id="rId32" Type="http://schemas.openxmlformats.org/officeDocument/2006/relationships/font" Target="fonts/RalewaySemiBold-bold.fntdata"/><Relationship Id="rId13" Type="http://schemas.openxmlformats.org/officeDocument/2006/relationships/slide" Target="slides/slide7.xml"/><Relationship Id="rId35" Type="http://schemas.openxmlformats.org/officeDocument/2006/relationships/font" Target="fonts/RalewayMedium-regular.fntdata"/><Relationship Id="rId12" Type="http://schemas.openxmlformats.org/officeDocument/2006/relationships/slide" Target="slides/slide6.xml"/><Relationship Id="rId34" Type="http://schemas.openxmlformats.org/officeDocument/2006/relationships/font" Target="fonts/Raleway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RalewayMedium-italic.fntdata"/><Relationship Id="rId14" Type="http://schemas.openxmlformats.org/officeDocument/2006/relationships/slide" Target="slides/slide8.xml"/><Relationship Id="rId36" Type="http://schemas.openxmlformats.org/officeDocument/2006/relationships/font" Target="fonts/RalewayMedium-bold.fntdata"/><Relationship Id="rId17" Type="http://schemas.openxmlformats.org/officeDocument/2006/relationships/slide" Target="slides/slide11.xml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10.xml"/><Relationship Id="rId38" Type="http://schemas.openxmlformats.org/officeDocument/2006/relationships/font" Target="fonts/Raleway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22d51056ba57e67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h22d51056ba57e67b_0_58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013e0b3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2c013e0b3a9_0_0:notes"/>
          <p:cNvSpPr/>
          <p:nvPr>
            <p:ph idx="2" type="sldImg"/>
          </p:nvPr>
        </p:nvSpPr>
        <p:spPr>
          <a:xfrm>
            <a:off x="123913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d2ffe56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cd2ffe569e_0_10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013e0b3a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2c013e0b3a9_0_69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016641d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2c016641d86_0_0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d2ffe569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cd2ffe569e_0_20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013e0b3a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c013e0b3a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d2ffe569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cd2ffe569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c079fb96d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2c079fb96d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c2ae8cb88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c2ae8cb88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d2ffe56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d2ffe56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d2ffe569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d2ffe569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d2ffe569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d2ffe569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456817" y="1257881"/>
            <a:ext cx="4655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2700"/>
              <a:buFont typeface="Raleway SemiBold"/>
              <a:buNone/>
              <a:defRPr b="0">
                <a:solidFill>
                  <a:srgbClr val="8F00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456818" y="2340281"/>
            <a:ext cx="79932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2877463" y="149325"/>
            <a:ext cx="1472700" cy="3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ЛОГО ВУЗА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80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32332" y="445031"/>
            <a:ext cx="797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 SemiBold"/>
              <a:buNone/>
              <a:defRPr b="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32332" y="1152469"/>
            <a:ext cx="840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>
          <p15:clr>
            <a:srgbClr val="E46962"/>
          </p15:clr>
        </p15:guide>
        <p15:guide id="2" pos="2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441819" y="1465988"/>
            <a:ext cx="3813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None/>
              <a:defRPr sz="3000">
                <a:solidFill>
                  <a:srgbClr val="9900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441819" y="2812219"/>
            <a:ext cx="4269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None/>
              <a:defRPr sz="17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-106904" y="4724286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45478" y="3499856"/>
            <a:ext cx="404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78">
          <p15:clr>
            <a:srgbClr val="E46962"/>
          </p15:clr>
        </p15:guide>
        <p15:guide id="2" orient="horz" pos="923">
          <p15:clr>
            <a:srgbClr val="E46962"/>
          </p15:clr>
        </p15:guide>
        <p15:guide id="3" pos="296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32332" y="1957500"/>
            <a:ext cx="6181800" cy="13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b="0" sz="30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30" name="Google Shape;30;p5"/>
          <p:cNvSpPr/>
          <p:nvPr/>
        </p:nvSpPr>
        <p:spPr>
          <a:xfrm>
            <a:off x="432332" y="1258838"/>
            <a:ext cx="1038900" cy="5151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" name="Google Shape;31;p5"/>
          <p:cNvSpPr txBox="1"/>
          <p:nvPr>
            <p:ph idx="2" type="title"/>
          </p:nvPr>
        </p:nvSpPr>
        <p:spPr>
          <a:xfrm>
            <a:off x="432332" y="1221750"/>
            <a:ext cx="61818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aleway SemiBold"/>
              <a:buNone/>
              <a:defRPr b="0" sz="22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 sz="13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72">
          <p15:clr>
            <a:srgbClr val="E46962"/>
          </p15:clr>
        </p15:guide>
        <p15:guide id="2" orient="horz" pos="79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300" lIns="58300" spcFirstLastPara="1" rIns="58300" wrap="square" tIns="58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311700" y="154338"/>
            <a:ext cx="85206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311700" y="80140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117013" y="4869477"/>
            <a:ext cx="7902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150" lIns="58300" spcFirstLastPara="1" rIns="58300" wrap="square" tIns="29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E:\-=Tanya=-\2035 Работа\-=Айдентика 2035=-\лого университета\Univer20_35_RGB.emf" id="41" name="Google Shape;4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9083" y="242441"/>
            <a:ext cx="453132" cy="22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1_Title and body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 rotWithShape="1">
          <a:blip r:embed="rId2">
            <a:alphaModFix/>
          </a:blip>
          <a:srcRect b="4320" l="0" r="2181" t="1756"/>
          <a:stretch/>
        </p:blipFill>
        <p:spPr>
          <a:xfrm>
            <a:off x="5397690" y="0"/>
            <a:ext cx="3746309" cy="514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9"/>
          <p:cNvPicPr preferRelativeResize="0"/>
          <p:nvPr/>
        </p:nvPicPr>
        <p:blipFill rotWithShape="1">
          <a:blip r:embed="rId3">
            <a:alphaModFix amt="32000"/>
          </a:blip>
          <a:srcRect b="0" l="0" r="0" t="0"/>
          <a:stretch/>
        </p:blipFill>
        <p:spPr>
          <a:xfrm>
            <a:off x="132603" y="4283434"/>
            <a:ext cx="1314430" cy="7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154338"/>
            <a:ext cx="64848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11700" y="80140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117013" y="4869477"/>
            <a:ext cx="7902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150" lIns="58300" spcFirstLastPara="1" rIns="58300" wrap="square" tIns="29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E:\-=Tanya=-\2035 Работа\-=Айдентика 2035=-\лого университета\Univer20_35_RGB.emf" id="48" name="Google Shape;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9083" y="242441"/>
            <a:ext cx="453132" cy="22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1_Title and body 3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391827" y="-157074"/>
            <a:ext cx="1277952" cy="182764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0"/>
          <p:cNvSpPr txBox="1"/>
          <p:nvPr>
            <p:ph type="title"/>
          </p:nvPr>
        </p:nvSpPr>
        <p:spPr>
          <a:xfrm>
            <a:off x="311700" y="154338"/>
            <a:ext cx="85206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80140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117013" y="4869477"/>
            <a:ext cx="7902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150" lIns="58300" spcFirstLastPara="1" rIns="58300" wrap="square" tIns="29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E:\-=Tanya=-\2035 Работа\-=Айдентика 2035=-\лого университета\Univer20_35_RGB.emf" id="54" name="Google Shape;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9083" y="242441"/>
            <a:ext cx="453132" cy="22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2pPr>
            <a:lvl3pPr indent="-3048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100"/>
            </a:lvl3pPr>
            <a:lvl4pPr indent="-3048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100"/>
            </a:lvl4pPr>
            <a:lvl5pPr indent="-3048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5pPr>
            <a:lvl6pPr indent="-3048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100"/>
            </a:lvl6pPr>
            <a:lvl7pPr indent="-3048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100"/>
            </a:lvl7pPr>
            <a:lvl8pPr indent="-3048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8pPr>
            <a:lvl9pPr indent="-3048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200"/>
              <a:buChar char="■"/>
              <a:defRPr sz="1100"/>
            </a:lvl9pPr>
          </a:lstStyle>
          <a:p/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2pPr>
            <a:lvl3pPr indent="-3048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100"/>
            </a:lvl3pPr>
            <a:lvl4pPr indent="-3048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100"/>
            </a:lvl4pPr>
            <a:lvl5pPr indent="-3048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5pPr>
            <a:lvl6pPr indent="-3048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100"/>
            </a:lvl6pPr>
            <a:lvl7pPr indent="-3048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100"/>
            </a:lvl7pPr>
            <a:lvl8pPr indent="-3048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8pPr>
            <a:lvl9pPr indent="-3048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200"/>
              <a:buChar char="■"/>
              <a:defRPr sz="1100"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300" lIns="58300" spcFirstLastPara="1" rIns="58300" wrap="square" tIns="58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E:\-=Tanya=-\2035 Работа\-=Айдентика 2035=-\лого университета\Univer20_35_RGB.emf" id="60" name="Google Shape;6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9083" y="242441"/>
            <a:ext cx="453132" cy="22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/>
        </p:nvSpPr>
        <p:spPr>
          <a:xfrm>
            <a:off x="4572972" y="4926413"/>
            <a:ext cx="915025" cy="216982"/>
          </a:xfrm>
          <a:custGeom>
            <a:rect b="b" l="l" r="r" t="t"/>
            <a:pathLst>
              <a:path extrusionOk="0" h="476884" w="2011045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3" name="Google Shape;63;p12"/>
          <p:cNvSpPr/>
          <p:nvPr/>
        </p:nvSpPr>
        <p:spPr>
          <a:xfrm>
            <a:off x="5487462" y="4926413"/>
            <a:ext cx="915025" cy="216982"/>
          </a:xfrm>
          <a:custGeom>
            <a:rect b="b" l="l" r="r" t="t"/>
            <a:pathLst>
              <a:path extrusionOk="0" h="476884" w="2011044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4A1B3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4" name="Google Shape;64;p12"/>
          <p:cNvSpPr/>
          <p:nvPr/>
        </p:nvSpPr>
        <p:spPr>
          <a:xfrm>
            <a:off x="7316457" y="4926413"/>
            <a:ext cx="915025" cy="216982"/>
          </a:xfrm>
          <a:custGeom>
            <a:rect b="b" l="l" r="r" t="t"/>
            <a:pathLst>
              <a:path extrusionOk="0" h="476884" w="2011044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B5D8E1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5" name="Google Shape;65;p12"/>
          <p:cNvSpPr/>
          <p:nvPr/>
        </p:nvSpPr>
        <p:spPr>
          <a:xfrm>
            <a:off x="8230948" y="4926413"/>
            <a:ext cx="913580" cy="216982"/>
          </a:xfrm>
          <a:custGeom>
            <a:rect b="b" l="l" r="r" t="t"/>
            <a:pathLst>
              <a:path extrusionOk="0" h="476884" w="2007869">
                <a:moveTo>
                  <a:pt x="2007436" y="0"/>
                </a:moveTo>
                <a:lnTo>
                  <a:pt x="0" y="0"/>
                </a:lnTo>
                <a:lnTo>
                  <a:pt x="0" y="476529"/>
                </a:lnTo>
                <a:lnTo>
                  <a:pt x="2007436" y="476529"/>
                </a:lnTo>
                <a:lnTo>
                  <a:pt x="2007436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6" name="Google Shape;66;p12"/>
          <p:cNvSpPr/>
          <p:nvPr/>
        </p:nvSpPr>
        <p:spPr>
          <a:xfrm>
            <a:off x="2745905" y="4926413"/>
            <a:ext cx="915025" cy="216982"/>
          </a:xfrm>
          <a:custGeom>
            <a:rect b="b" l="l" r="r" t="t"/>
            <a:pathLst>
              <a:path extrusionOk="0" h="476884" w="2011045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7" name="Google Shape;67;p12"/>
          <p:cNvSpPr/>
          <p:nvPr/>
        </p:nvSpPr>
        <p:spPr>
          <a:xfrm>
            <a:off x="1830447" y="4926413"/>
            <a:ext cx="916181" cy="216982"/>
          </a:xfrm>
          <a:custGeom>
            <a:rect b="b" l="l" r="r" t="t"/>
            <a:pathLst>
              <a:path extrusionOk="0" h="476884" w="2013585">
                <a:moveTo>
                  <a:pt x="2013111" y="0"/>
                </a:moveTo>
                <a:lnTo>
                  <a:pt x="0" y="0"/>
                </a:lnTo>
                <a:lnTo>
                  <a:pt x="0" y="476529"/>
                </a:lnTo>
                <a:lnTo>
                  <a:pt x="2013111" y="476529"/>
                </a:lnTo>
                <a:lnTo>
                  <a:pt x="2013111" y="0"/>
                </a:lnTo>
                <a:close/>
              </a:path>
            </a:pathLst>
          </a:custGeom>
          <a:solidFill>
            <a:srgbClr val="FBB3C1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" name="Google Shape;68;p12"/>
          <p:cNvSpPr/>
          <p:nvPr/>
        </p:nvSpPr>
        <p:spPr>
          <a:xfrm>
            <a:off x="915952" y="4926413"/>
            <a:ext cx="915025" cy="216982"/>
          </a:xfrm>
          <a:custGeom>
            <a:rect b="b" l="l" r="r" t="t"/>
            <a:pathLst>
              <a:path extrusionOk="0" h="476884" w="2011045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9" name="Google Shape;69;p12"/>
          <p:cNvSpPr/>
          <p:nvPr/>
        </p:nvSpPr>
        <p:spPr>
          <a:xfrm>
            <a:off x="1455" y="4926413"/>
            <a:ext cx="4574261" cy="216982"/>
          </a:xfrm>
          <a:custGeom>
            <a:rect b="b" l="l" r="r" t="t"/>
            <a:pathLst>
              <a:path extrusionOk="0" h="476884" w="10053320">
                <a:moveTo>
                  <a:pt x="2010613" y="0"/>
                </a:moveTo>
                <a:lnTo>
                  <a:pt x="0" y="0"/>
                </a:lnTo>
                <a:lnTo>
                  <a:pt x="0" y="476529"/>
                </a:lnTo>
                <a:lnTo>
                  <a:pt x="2010613" y="476529"/>
                </a:lnTo>
                <a:lnTo>
                  <a:pt x="2010613" y="0"/>
                </a:lnTo>
                <a:close/>
              </a:path>
              <a:path extrusionOk="0" h="476884" w="10053320">
                <a:moveTo>
                  <a:pt x="10053104" y="0"/>
                </a:moveTo>
                <a:lnTo>
                  <a:pt x="8042491" y="0"/>
                </a:lnTo>
                <a:lnTo>
                  <a:pt x="8042491" y="476529"/>
                </a:lnTo>
                <a:lnTo>
                  <a:pt x="10053104" y="476529"/>
                </a:lnTo>
                <a:lnTo>
                  <a:pt x="10053104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0" name="Google Shape;70;p12"/>
          <p:cNvSpPr/>
          <p:nvPr/>
        </p:nvSpPr>
        <p:spPr>
          <a:xfrm>
            <a:off x="6401967" y="4926413"/>
            <a:ext cx="915025" cy="216982"/>
          </a:xfrm>
          <a:custGeom>
            <a:rect b="b" l="l" r="r" t="t"/>
            <a:pathLst>
              <a:path extrusionOk="0" h="476884" w="2011044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1" name="Google Shape;71;p12"/>
          <p:cNvSpPr/>
          <p:nvPr/>
        </p:nvSpPr>
        <p:spPr>
          <a:xfrm>
            <a:off x="0" y="437262"/>
            <a:ext cx="266100" cy="77432"/>
          </a:xfrm>
          <a:custGeom>
            <a:rect b="b" l="l" r="r" t="t"/>
            <a:pathLst>
              <a:path extrusionOk="0" h="170180" w="584835">
                <a:moveTo>
                  <a:pt x="584264" y="0"/>
                </a:moveTo>
                <a:lnTo>
                  <a:pt x="0" y="0"/>
                </a:lnTo>
                <a:lnTo>
                  <a:pt x="0" y="170120"/>
                </a:lnTo>
                <a:lnTo>
                  <a:pt x="584264" y="170120"/>
                </a:lnTo>
                <a:lnTo>
                  <a:pt x="584264" y="0"/>
                </a:lnTo>
                <a:close/>
              </a:path>
            </a:pathLst>
          </a:custGeom>
          <a:solidFill>
            <a:srgbClr val="FBB3C1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2" name="Google Shape;72;p12"/>
          <p:cNvSpPr/>
          <p:nvPr/>
        </p:nvSpPr>
        <p:spPr>
          <a:xfrm>
            <a:off x="265742" y="437262"/>
            <a:ext cx="267545" cy="77432"/>
          </a:xfrm>
          <a:custGeom>
            <a:rect b="b" l="l" r="r" t="t"/>
            <a:pathLst>
              <a:path extrusionOk="0" h="170180" w="588010">
                <a:moveTo>
                  <a:pt x="587448" y="0"/>
                </a:moveTo>
                <a:lnTo>
                  <a:pt x="0" y="0"/>
                </a:lnTo>
                <a:lnTo>
                  <a:pt x="0" y="170120"/>
                </a:lnTo>
                <a:lnTo>
                  <a:pt x="587448" y="170120"/>
                </a:lnTo>
                <a:lnTo>
                  <a:pt x="587448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3" name="Google Shape;73;p12"/>
          <p:cNvSpPr/>
          <p:nvPr/>
        </p:nvSpPr>
        <p:spPr>
          <a:xfrm>
            <a:off x="532933" y="437262"/>
            <a:ext cx="254254" cy="77432"/>
          </a:xfrm>
          <a:custGeom>
            <a:rect b="b" l="l" r="r" t="t"/>
            <a:pathLst>
              <a:path extrusionOk="0" h="170180" w="558800">
                <a:moveTo>
                  <a:pt x="558202" y="0"/>
                </a:moveTo>
                <a:lnTo>
                  <a:pt x="0" y="0"/>
                </a:lnTo>
                <a:lnTo>
                  <a:pt x="0" y="170120"/>
                </a:lnTo>
                <a:lnTo>
                  <a:pt x="558202" y="170120"/>
                </a:lnTo>
                <a:lnTo>
                  <a:pt x="558202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4" name="Google Shape;74;p12"/>
          <p:cNvSpPr/>
          <p:nvPr/>
        </p:nvSpPr>
        <p:spPr>
          <a:xfrm>
            <a:off x="786822" y="437262"/>
            <a:ext cx="265522" cy="77432"/>
          </a:xfrm>
          <a:custGeom>
            <a:rect b="b" l="l" r="r" t="t"/>
            <a:pathLst>
              <a:path extrusionOk="0" h="170180" w="583564">
                <a:moveTo>
                  <a:pt x="583186" y="0"/>
                </a:moveTo>
                <a:lnTo>
                  <a:pt x="0" y="0"/>
                </a:lnTo>
                <a:lnTo>
                  <a:pt x="0" y="170120"/>
                </a:lnTo>
                <a:lnTo>
                  <a:pt x="583186" y="170120"/>
                </a:lnTo>
                <a:lnTo>
                  <a:pt x="583186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" name="Google Shape;75;p12"/>
          <p:cNvSpPr/>
          <p:nvPr/>
        </p:nvSpPr>
        <p:spPr>
          <a:xfrm>
            <a:off x="1052074" y="437262"/>
            <a:ext cx="265522" cy="77432"/>
          </a:xfrm>
          <a:custGeom>
            <a:rect b="b" l="l" r="r" t="t"/>
            <a:pathLst>
              <a:path extrusionOk="0" h="170180" w="583564">
                <a:moveTo>
                  <a:pt x="583186" y="0"/>
                </a:moveTo>
                <a:lnTo>
                  <a:pt x="0" y="0"/>
                </a:lnTo>
                <a:lnTo>
                  <a:pt x="0" y="170120"/>
                </a:lnTo>
                <a:lnTo>
                  <a:pt x="583186" y="170120"/>
                </a:lnTo>
                <a:lnTo>
                  <a:pt x="583186" y="0"/>
                </a:lnTo>
                <a:close/>
              </a:path>
            </a:pathLst>
          </a:custGeom>
          <a:solidFill>
            <a:srgbClr val="B5D8E1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6" name="Google Shape;76;p12"/>
          <p:cNvSpPr txBox="1"/>
          <p:nvPr>
            <p:ph type="title"/>
          </p:nvPr>
        </p:nvSpPr>
        <p:spPr>
          <a:xfrm>
            <a:off x="392100" y="210313"/>
            <a:ext cx="2322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700"/>
              <a:buNone/>
              <a:defRPr b="1" i="0" sz="13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83680" y="4783455"/>
            <a:ext cx="2103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-1925"/>
            <a:ext cx="9144000" cy="628500"/>
          </a:xfrm>
          <a:prstGeom prst="rect">
            <a:avLst/>
          </a:prstGeom>
          <a:solidFill>
            <a:srgbClr val="DAD1FF"/>
          </a:solidFill>
          <a:ln>
            <a:noFill/>
          </a:ln>
        </p:spPr>
        <p:txBody>
          <a:bodyPr anchorCtr="0" anchor="ctr" bIns="104000" lIns="104000" spcFirstLastPara="1" rIns="104000" wrap="square" tIns="10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3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2700"/>
              <a:buFont typeface="Raleway"/>
              <a:buNone/>
              <a:defRPr b="1" i="0" sz="2700" u="none" cap="none" strike="noStrike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" name="Google Shape;10;p1" title="Логотип Открытые инновации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84737" y="148094"/>
            <a:ext cx="1129573" cy="38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380" y="194466"/>
            <a:ext cx="1455005" cy="2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 title="Лого_ПУТП_черный - RGB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3399" y="13230"/>
            <a:ext cx="806497" cy="62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title="putp_technologies_logo_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279" y="131942"/>
            <a:ext cx="1129585" cy="4324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Add500" Type="http://schemas.openxmlformats.org/officeDocument/2006/relationships/image" Target="../media/lt_overview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813907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17129" y="3878353"/>
            <a:ext cx="4428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3600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E6913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Лерер Антон Ильич, лидер команды</a:t>
            </a:r>
            <a:endParaRPr sz="2050">
              <a:solidFill>
                <a:srgbClr val="E6913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E6913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Финансовый университет · leader-id.ru/users/7792463</a:t>
            </a:r>
            <a:endParaRPr sz="2050">
              <a:solidFill>
                <a:srgbClr val="E6913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3"/>
          <p:cNvSpPr txBox="1"/>
          <p:nvPr>
            <p:ph type="title"/>
          </p:nvPr>
        </p:nvSpPr>
        <p:spPr>
          <a:xfrm>
            <a:off x="417129" y="1834153"/>
            <a:ext cx="4655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ru" sz="3100">
                <a:solidFill>
                  <a:schemeClr val="lt1"/>
                </a:solidFill>
              </a:rPr>
              <a:t>LAWTRACKER</a:t>
            </a:r>
            <a:endParaRPr sz="3100"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420624" y="2916936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ru" sz="1400">
                <a:solidFill>
                  <a:schemeClr val="lt1"/>
                </a:solidFill>
              </a:rPr>
              <a:t>Платформа персонального мониторинга изменений законодательства для малого и среднего бизнеса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050777" y="168546"/>
            <a:ext cx="1017973" cy="369927"/>
          </a:xfrm>
          <a:custGeom>
            <a:rect b="b" l="l" r="r" t="t"/>
            <a:pathLst>
              <a:path extrusionOk="0" h="1972945" w="5154295">
                <a:moveTo>
                  <a:pt x="1779397" y="1558163"/>
                </a:moveTo>
                <a:lnTo>
                  <a:pt x="1663064" y="1558163"/>
                </a:lnTo>
                <a:lnTo>
                  <a:pt x="1663064" y="1729867"/>
                </a:lnTo>
                <a:lnTo>
                  <a:pt x="1710563" y="1729867"/>
                </a:lnTo>
                <a:lnTo>
                  <a:pt x="1710563" y="1674876"/>
                </a:lnTo>
                <a:lnTo>
                  <a:pt x="1779397" y="1674876"/>
                </a:lnTo>
                <a:lnTo>
                  <a:pt x="1813046" y="1670518"/>
                </a:lnTo>
                <a:lnTo>
                  <a:pt x="1834943" y="1658493"/>
                </a:lnTo>
                <a:lnTo>
                  <a:pt x="1846816" y="1640371"/>
                </a:lnTo>
                <a:lnTo>
                  <a:pt x="1847403" y="1636649"/>
                </a:lnTo>
                <a:lnTo>
                  <a:pt x="1710563" y="1636649"/>
                </a:lnTo>
                <a:lnTo>
                  <a:pt x="1710563" y="1596517"/>
                </a:lnTo>
                <a:lnTo>
                  <a:pt x="1847555" y="1596517"/>
                </a:lnTo>
                <a:lnTo>
                  <a:pt x="1846905" y="1592238"/>
                </a:lnTo>
                <a:lnTo>
                  <a:pt x="1835181" y="1574196"/>
                </a:lnTo>
                <a:lnTo>
                  <a:pt x="1813313" y="1562393"/>
                </a:lnTo>
                <a:lnTo>
                  <a:pt x="1779397" y="1558163"/>
                </a:lnTo>
                <a:close/>
              </a:path>
              <a:path extrusionOk="0" h="1972945" w="5154295">
                <a:moveTo>
                  <a:pt x="1847555" y="1596517"/>
                </a:moveTo>
                <a:lnTo>
                  <a:pt x="1775968" y="1596517"/>
                </a:lnTo>
                <a:lnTo>
                  <a:pt x="1787270" y="1597876"/>
                </a:lnTo>
                <a:lnTo>
                  <a:pt x="1795049" y="1601771"/>
                </a:lnTo>
                <a:lnTo>
                  <a:pt x="1799542" y="1607929"/>
                </a:lnTo>
                <a:lnTo>
                  <a:pt x="1800987" y="1616075"/>
                </a:lnTo>
                <a:lnTo>
                  <a:pt x="1800987" y="1616964"/>
                </a:lnTo>
                <a:lnTo>
                  <a:pt x="1799542" y="1625236"/>
                </a:lnTo>
                <a:lnTo>
                  <a:pt x="1795049" y="1631426"/>
                </a:lnTo>
                <a:lnTo>
                  <a:pt x="1787270" y="1635305"/>
                </a:lnTo>
                <a:lnTo>
                  <a:pt x="1775968" y="1636649"/>
                </a:lnTo>
                <a:lnTo>
                  <a:pt x="1847403" y="1636649"/>
                </a:lnTo>
                <a:lnTo>
                  <a:pt x="1850389" y="1617726"/>
                </a:lnTo>
                <a:lnTo>
                  <a:pt x="1850389" y="1615186"/>
                </a:lnTo>
                <a:lnTo>
                  <a:pt x="1847555" y="1596517"/>
                </a:lnTo>
                <a:close/>
              </a:path>
              <a:path extrusionOk="0" h="1972945" w="5154295">
                <a:moveTo>
                  <a:pt x="1629791" y="1558163"/>
                </a:moveTo>
                <a:lnTo>
                  <a:pt x="1451864" y="1558163"/>
                </a:lnTo>
                <a:lnTo>
                  <a:pt x="1451864" y="1729867"/>
                </a:lnTo>
                <a:lnTo>
                  <a:pt x="1499362" y="1729867"/>
                </a:lnTo>
                <a:lnTo>
                  <a:pt x="1499362" y="1596009"/>
                </a:lnTo>
                <a:lnTo>
                  <a:pt x="1629791" y="1596009"/>
                </a:lnTo>
                <a:lnTo>
                  <a:pt x="1629791" y="1558163"/>
                </a:lnTo>
                <a:close/>
              </a:path>
              <a:path extrusionOk="0" h="1972945" w="5154295">
                <a:moveTo>
                  <a:pt x="1629791" y="1596009"/>
                </a:moveTo>
                <a:lnTo>
                  <a:pt x="1582293" y="1596009"/>
                </a:lnTo>
                <a:lnTo>
                  <a:pt x="1582293" y="1729867"/>
                </a:lnTo>
                <a:lnTo>
                  <a:pt x="1629791" y="1729867"/>
                </a:lnTo>
                <a:lnTo>
                  <a:pt x="1629791" y="1596009"/>
                </a:lnTo>
                <a:close/>
              </a:path>
              <a:path extrusionOk="0" h="1972945" w="5154295">
                <a:moveTo>
                  <a:pt x="1598676" y="1448562"/>
                </a:moveTo>
                <a:lnTo>
                  <a:pt x="1551177" y="1448562"/>
                </a:lnTo>
                <a:lnTo>
                  <a:pt x="1551177" y="1468374"/>
                </a:lnTo>
                <a:lnTo>
                  <a:pt x="1598676" y="1468374"/>
                </a:lnTo>
                <a:lnTo>
                  <a:pt x="1598676" y="1448562"/>
                </a:lnTo>
                <a:close/>
              </a:path>
              <a:path extrusionOk="0" h="1972945" w="5154295">
                <a:moveTo>
                  <a:pt x="1630299" y="1309751"/>
                </a:moveTo>
                <a:lnTo>
                  <a:pt x="1519555" y="1309751"/>
                </a:lnTo>
                <a:lnTo>
                  <a:pt x="1487714" y="1313404"/>
                </a:lnTo>
                <a:lnTo>
                  <a:pt x="1462079" y="1325070"/>
                </a:lnTo>
                <a:lnTo>
                  <a:pt x="1444999" y="1345809"/>
                </a:lnTo>
                <a:lnTo>
                  <a:pt x="1438783" y="1376680"/>
                </a:lnTo>
                <a:lnTo>
                  <a:pt x="1438808" y="1378712"/>
                </a:lnTo>
                <a:lnTo>
                  <a:pt x="1462358" y="1431766"/>
                </a:lnTo>
                <a:lnTo>
                  <a:pt x="1519936" y="1448562"/>
                </a:lnTo>
                <a:lnTo>
                  <a:pt x="1629918" y="1448562"/>
                </a:lnTo>
                <a:lnTo>
                  <a:pt x="1661886" y="1444450"/>
                </a:lnTo>
                <a:lnTo>
                  <a:pt x="1687639" y="1431766"/>
                </a:lnTo>
                <a:lnTo>
                  <a:pt x="1704043" y="1410970"/>
                </a:lnTo>
                <a:lnTo>
                  <a:pt x="1529461" y="1410970"/>
                </a:lnTo>
                <a:lnTo>
                  <a:pt x="1511794" y="1409197"/>
                </a:lnTo>
                <a:lnTo>
                  <a:pt x="1498806" y="1403556"/>
                </a:lnTo>
                <a:lnTo>
                  <a:pt x="1490795" y="1393557"/>
                </a:lnTo>
                <a:lnTo>
                  <a:pt x="1488058" y="1378712"/>
                </a:lnTo>
                <a:lnTo>
                  <a:pt x="1488085" y="1376680"/>
                </a:lnTo>
                <a:lnTo>
                  <a:pt x="1490849" y="1363650"/>
                </a:lnTo>
                <a:lnTo>
                  <a:pt x="1498949" y="1354518"/>
                </a:lnTo>
                <a:lnTo>
                  <a:pt x="1511954" y="1349196"/>
                </a:lnTo>
                <a:lnTo>
                  <a:pt x="1529461" y="1347470"/>
                </a:lnTo>
                <a:lnTo>
                  <a:pt x="1705179" y="1347470"/>
                </a:lnTo>
                <a:lnTo>
                  <a:pt x="1704844" y="1345809"/>
                </a:lnTo>
                <a:lnTo>
                  <a:pt x="1687734" y="1325070"/>
                </a:lnTo>
                <a:lnTo>
                  <a:pt x="1662100" y="1313404"/>
                </a:lnTo>
                <a:lnTo>
                  <a:pt x="1630299" y="1309751"/>
                </a:lnTo>
                <a:close/>
              </a:path>
              <a:path extrusionOk="0" h="1972945" w="5154295">
                <a:moveTo>
                  <a:pt x="1598676" y="1347470"/>
                </a:moveTo>
                <a:lnTo>
                  <a:pt x="1551177" y="1347470"/>
                </a:lnTo>
                <a:lnTo>
                  <a:pt x="1551177" y="1410970"/>
                </a:lnTo>
                <a:lnTo>
                  <a:pt x="1598676" y="1410970"/>
                </a:lnTo>
                <a:lnTo>
                  <a:pt x="1598676" y="1347470"/>
                </a:lnTo>
                <a:close/>
              </a:path>
              <a:path extrusionOk="0" h="1972945" w="5154295">
                <a:moveTo>
                  <a:pt x="1705179" y="1347470"/>
                </a:moveTo>
                <a:lnTo>
                  <a:pt x="1620393" y="1347470"/>
                </a:lnTo>
                <a:lnTo>
                  <a:pt x="1637825" y="1349196"/>
                </a:lnTo>
                <a:lnTo>
                  <a:pt x="1650793" y="1354518"/>
                </a:lnTo>
                <a:lnTo>
                  <a:pt x="1658879" y="1363650"/>
                </a:lnTo>
                <a:lnTo>
                  <a:pt x="1661641" y="1376680"/>
                </a:lnTo>
                <a:lnTo>
                  <a:pt x="1661668" y="1378712"/>
                </a:lnTo>
                <a:lnTo>
                  <a:pt x="1658951" y="1393557"/>
                </a:lnTo>
                <a:lnTo>
                  <a:pt x="1650984" y="1403556"/>
                </a:lnTo>
                <a:lnTo>
                  <a:pt x="1638040" y="1409197"/>
                </a:lnTo>
                <a:lnTo>
                  <a:pt x="1620393" y="1410970"/>
                </a:lnTo>
                <a:lnTo>
                  <a:pt x="1704043" y="1410970"/>
                </a:lnTo>
                <a:lnTo>
                  <a:pt x="1704820" y="1409985"/>
                </a:lnTo>
                <a:lnTo>
                  <a:pt x="1711045" y="1378712"/>
                </a:lnTo>
                <a:lnTo>
                  <a:pt x="1711070" y="1376680"/>
                </a:lnTo>
                <a:lnTo>
                  <a:pt x="1705179" y="1347470"/>
                </a:lnTo>
                <a:close/>
              </a:path>
              <a:path extrusionOk="0" h="1972945" w="5154295">
                <a:moveTo>
                  <a:pt x="1598676" y="1291971"/>
                </a:moveTo>
                <a:lnTo>
                  <a:pt x="1551177" y="1291971"/>
                </a:lnTo>
                <a:lnTo>
                  <a:pt x="1551177" y="1309751"/>
                </a:lnTo>
                <a:lnTo>
                  <a:pt x="1598676" y="1309751"/>
                </a:lnTo>
                <a:lnTo>
                  <a:pt x="1598676" y="1291971"/>
                </a:lnTo>
                <a:close/>
              </a:path>
              <a:path extrusionOk="0" h="1972945" w="5154295">
                <a:moveTo>
                  <a:pt x="1565656" y="881253"/>
                </a:moveTo>
                <a:lnTo>
                  <a:pt x="1459230" y="881253"/>
                </a:lnTo>
                <a:lnTo>
                  <a:pt x="1459230" y="1094486"/>
                </a:lnTo>
                <a:lnTo>
                  <a:pt x="1565656" y="1094486"/>
                </a:lnTo>
                <a:lnTo>
                  <a:pt x="1565656" y="881253"/>
                </a:lnTo>
                <a:close/>
              </a:path>
              <a:path extrusionOk="0" h="1972945" w="5154295">
                <a:moveTo>
                  <a:pt x="1683639" y="800100"/>
                </a:moveTo>
                <a:lnTo>
                  <a:pt x="1341374" y="800100"/>
                </a:lnTo>
                <a:lnTo>
                  <a:pt x="1341374" y="881253"/>
                </a:lnTo>
                <a:lnTo>
                  <a:pt x="1683639" y="881253"/>
                </a:lnTo>
                <a:lnTo>
                  <a:pt x="1683639" y="800100"/>
                </a:lnTo>
                <a:close/>
              </a:path>
              <a:path extrusionOk="0" h="1972945" w="5154295">
                <a:moveTo>
                  <a:pt x="2550033" y="800100"/>
                </a:moveTo>
                <a:lnTo>
                  <a:pt x="2443099" y="800100"/>
                </a:lnTo>
                <a:lnTo>
                  <a:pt x="2443099" y="1094486"/>
                </a:lnTo>
                <a:lnTo>
                  <a:pt x="2550033" y="1094486"/>
                </a:lnTo>
                <a:lnTo>
                  <a:pt x="2550033" y="982853"/>
                </a:lnTo>
                <a:lnTo>
                  <a:pt x="2805557" y="982853"/>
                </a:lnTo>
                <a:lnTo>
                  <a:pt x="2805557" y="903732"/>
                </a:lnTo>
                <a:lnTo>
                  <a:pt x="2550033" y="903732"/>
                </a:lnTo>
                <a:lnTo>
                  <a:pt x="2550033" y="800100"/>
                </a:lnTo>
                <a:close/>
              </a:path>
              <a:path extrusionOk="0" h="1972945" w="5154295">
                <a:moveTo>
                  <a:pt x="2805557" y="982853"/>
                </a:moveTo>
                <a:lnTo>
                  <a:pt x="2699130" y="982853"/>
                </a:lnTo>
                <a:lnTo>
                  <a:pt x="2699130" y="1094486"/>
                </a:lnTo>
                <a:lnTo>
                  <a:pt x="2805557" y="1094486"/>
                </a:lnTo>
                <a:lnTo>
                  <a:pt x="2805557" y="982853"/>
                </a:lnTo>
                <a:close/>
              </a:path>
              <a:path extrusionOk="0" h="1972945" w="5154295">
                <a:moveTo>
                  <a:pt x="2805557" y="800100"/>
                </a:moveTo>
                <a:lnTo>
                  <a:pt x="2699130" y="800100"/>
                </a:lnTo>
                <a:lnTo>
                  <a:pt x="2699130" y="903732"/>
                </a:lnTo>
                <a:lnTo>
                  <a:pt x="2805557" y="903732"/>
                </a:lnTo>
                <a:lnTo>
                  <a:pt x="2805557" y="800100"/>
                </a:lnTo>
                <a:close/>
              </a:path>
              <a:path extrusionOk="0" h="1972945" w="5154295">
                <a:moveTo>
                  <a:pt x="2450211" y="1294511"/>
                </a:moveTo>
                <a:lnTo>
                  <a:pt x="2333879" y="1294511"/>
                </a:lnTo>
                <a:lnTo>
                  <a:pt x="2333879" y="1466088"/>
                </a:lnTo>
                <a:lnTo>
                  <a:pt x="2381377" y="1466088"/>
                </a:lnTo>
                <a:lnTo>
                  <a:pt x="2381377" y="1411097"/>
                </a:lnTo>
                <a:lnTo>
                  <a:pt x="2450211" y="1411097"/>
                </a:lnTo>
                <a:lnTo>
                  <a:pt x="2483860" y="1406739"/>
                </a:lnTo>
                <a:lnTo>
                  <a:pt x="2505757" y="1394714"/>
                </a:lnTo>
                <a:lnTo>
                  <a:pt x="2517630" y="1376592"/>
                </a:lnTo>
                <a:lnTo>
                  <a:pt x="2518217" y="1372870"/>
                </a:lnTo>
                <a:lnTo>
                  <a:pt x="2381377" y="1372870"/>
                </a:lnTo>
                <a:lnTo>
                  <a:pt x="2381377" y="1332611"/>
                </a:lnTo>
                <a:lnTo>
                  <a:pt x="2518361" y="1332611"/>
                </a:lnTo>
                <a:lnTo>
                  <a:pt x="2517805" y="1328928"/>
                </a:lnTo>
                <a:lnTo>
                  <a:pt x="2517737" y="1328479"/>
                </a:lnTo>
                <a:lnTo>
                  <a:pt x="2506043" y="1310481"/>
                </a:lnTo>
                <a:lnTo>
                  <a:pt x="2484181" y="1298721"/>
                </a:lnTo>
                <a:lnTo>
                  <a:pt x="2450211" y="1294511"/>
                </a:lnTo>
                <a:close/>
              </a:path>
              <a:path extrusionOk="0" h="1972945" w="5154295">
                <a:moveTo>
                  <a:pt x="2649151" y="1294511"/>
                </a:moveTo>
                <a:lnTo>
                  <a:pt x="2585409" y="1294511"/>
                </a:lnTo>
                <a:lnTo>
                  <a:pt x="2509393" y="1466088"/>
                </a:lnTo>
                <a:lnTo>
                  <a:pt x="2557018" y="1466088"/>
                </a:lnTo>
                <a:lnTo>
                  <a:pt x="2570861" y="1434211"/>
                </a:lnTo>
                <a:lnTo>
                  <a:pt x="2713938" y="1434211"/>
                </a:lnTo>
                <a:lnTo>
                  <a:pt x="2697565" y="1398905"/>
                </a:lnTo>
                <a:lnTo>
                  <a:pt x="2586355" y="1398905"/>
                </a:lnTo>
                <a:lnTo>
                  <a:pt x="2616581" y="1328928"/>
                </a:lnTo>
                <a:lnTo>
                  <a:pt x="2665113" y="1328928"/>
                </a:lnTo>
                <a:lnTo>
                  <a:pt x="2649151" y="1294511"/>
                </a:lnTo>
                <a:close/>
              </a:path>
              <a:path extrusionOk="0" h="1972945" w="5154295">
                <a:moveTo>
                  <a:pt x="2713938" y="1434211"/>
                </a:moveTo>
                <a:lnTo>
                  <a:pt x="2663698" y="1434211"/>
                </a:lnTo>
                <a:lnTo>
                  <a:pt x="2677795" y="1466088"/>
                </a:lnTo>
                <a:lnTo>
                  <a:pt x="2728722" y="1466088"/>
                </a:lnTo>
                <a:lnTo>
                  <a:pt x="2713938" y="1434211"/>
                </a:lnTo>
                <a:close/>
              </a:path>
              <a:path extrusionOk="0" h="1972945" w="5154295">
                <a:moveTo>
                  <a:pt x="2665113" y="1328928"/>
                </a:moveTo>
                <a:lnTo>
                  <a:pt x="2616581" y="1328928"/>
                </a:lnTo>
                <a:lnTo>
                  <a:pt x="2647823" y="1398905"/>
                </a:lnTo>
                <a:lnTo>
                  <a:pt x="2697565" y="1398905"/>
                </a:lnTo>
                <a:lnTo>
                  <a:pt x="2665113" y="1328928"/>
                </a:lnTo>
                <a:close/>
              </a:path>
              <a:path extrusionOk="0" h="1972945" w="5154295">
                <a:moveTo>
                  <a:pt x="2518361" y="1332611"/>
                </a:moveTo>
                <a:lnTo>
                  <a:pt x="2446782" y="1332611"/>
                </a:lnTo>
                <a:lnTo>
                  <a:pt x="2458104" y="1333990"/>
                </a:lnTo>
                <a:lnTo>
                  <a:pt x="2465927" y="1337929"/>
                </a:lnTo>
                <a:lnTo>
                  <a:pt x="2470463" y="1344130"/>
                </a:lnTo>
                <a:lnTo>
                  <a:pt x="2471928" y="1352296"/>
                </a:lnTo>
                <a:lnTo>
                  <a:pt x="2471928" y="1353185"/>
                </a:lnTo>
                <a:lnTo>
                  <a:pt x="2470463" y="1361404"/>
                </a:lnTo>
                <a:lnTo>
                  <a:pt x="2465927" y="1367599"/>
                </a:lnTo>
                <a:lnTo>
                  <a:pt x="2458104" y="1371508"/>
                </a:lnTo>
                <a:lnTo>
                  <a:pt x="2446782" y="1372870"/>
                </a:lnTo>
                <a:lnTo>
                  <a:pt x="2518217" y="1372870"/>
                </a:lnTo>
                <a:lnTo>
                  <a:pt x="2521204" y="1353947"/>
                </a:lnTo>
                <a:lnTo>
                  <a:pt x="2521204" y="1351407"/>
                </a:lnTo>
                <a:lnTo>
                  <a:pt x="2518361" y="1332611"/>
                </a:lnTo>
                <a:close/>
              </a:path>
              <a:path extrusionOk="0" h="1972945" w="5154295">
                <a:moveTo>
                  <a:pt x="3050413" y="794893"/>
                </a:moveTo>
                <a:lnTo>
                  <a:pt x="3032633" y="794893"/>
                </a:lnTo>
                <a:lnTo>
                  <a:pt x="2964036" y="801449"/>
                </a:lnTo>
                <a:lnTo>
                  <a:pt x="2964237" y="801449"/>
                </a:lnTo>
                <a:lnTo>
                  <a:pt x="2913782" y="819112"/>
                </a:lnTo>
                <a:lnTo>
                  <a:pt x="2913909" y="819112"/>
                </a:lnTo>
                <a:lnTo>
                  <a:pt x="2879264" y="844724"/>
                </a:lnTo>
                <a:lnTo>
                  <a:pt x="2857532" y="875533"/>
                </a:lnTo>
                <a:lnTo>
                  <a:pt x="2846328" y="908472"/>
                </a:lnTo>
                <a:lnTo>
                  <a:pt x="2843149" y="940562"/>
                </a:lnTo>
                <a:lnTo>
                  <a:pt x="2843149" y="952373"/>
                </a:lnTo>
                <a:lnTo>
                  <a:pt x="2857476" y="1017288"/>
                </a:lnTo>
                <a:lnTo>
                  <a:pt x="2913911" y="1074782"/>
                </a:lnTo>
                <a:lnTo>
                  <a:pt x="2964225" y="1092843"/>
                </a:lnTo>
                <a:lnTo>
                  <a:pt x="3032633" y="1099566"/>
                </a:lnTo>
                <a:lnTo>
                  <a:pt x="3050413" y="1099566"/>
                </a:lnTo>
                <a:lnTo>
                  <a:pt x="3119129" y="1092843"/>
                </a:lnTo>
                <a:lnTo>
                  <a:pt x="3169529" y="1074782"/>
                </a:lnTo>
                <a:lnTo>
                  <a:pt x="3204209" y="1048543"/>
                </a:lnTo>
                <a:lnTo>
                  <a:pt x="3224991" y="1018413"/>
                </a:lnTo>
                <a:lnTo>
                  <a:pt x="3041777" y="1018413"/>
                </a:lnTo>
                <a:lnTo>
                  <a:pt x="2996928" y="1011420"/>
                </a:lnTo>
                <a:lnTo>
                  <a:pt x="2970450" y="993902"/>
                </a:lnTo>
                <a:lnTo>
                  <a:pt x="2957855" y="971049"/>
                </a:lnTo>
                <a:lnTo>
                  <a:pt x="2954654" y="948055"/>
                </a:lnTo>
                <a:lnTo>
                  <a:pt x="2954654" y="943737"/>
                </a:lnTo>
                <a:lnTo>
                  <a:pt x="2957742" y="920980"/>
                </a:lnTo>
                <a:lnTo>
                  <a:pt x="2970117" y="898652"/>
                </a:lnTo>
                <a:lnTo>
                  <a:pt x="2996445" y="881657"/>
                </a:lnTo>
                <a:lnTo>
                  <a:pt x="3041396" y="874903"/>
                </a:lnTo>
                <a:lnTo>
                  <a:pt x="3225121" y="874903"/>
                </a:lnTo>
                <a:lnTo>
                  <a:pt x="3204067" y="844867"/>
                </a:lnTo>
                <a:lnTo>
                  <a:pt x="3169360" y="819112"/>
                </a:lnTo>
                <a:lnTo>
                  <a:pt x="3118997" y="801449"/>
                </a:lnTo>
                <a:lnTo>
                  <a:pt x="3050413" y="794893"/>
                </a:lnTo>
                <a:close/>
              </a:path>
              <a:path extrusionOk="0" h="1972945" w="5154295">
                <a:moveTo>
                  <a:pt x="3225121" y="874903"/>
                </a:moveTo>
                <a:lnTo>
                  <a:pt x="3041396" y="874903"/>
                </a:lnTo>
                <a:lnTo>
                  <a:pt x="3086332" y="881657"/>
                </a:lnTo>
                <a:lnTo>
                  <a:pt x="3112754" y="898652"/>
                </a:lnTo>
                <a:lnTo>
                  <a:pt x="3125245" y="920980"/>
                </a:lnTo>
                <a:lnTo>
                  <a:pt x="3128391" y="943737"/>
                </a:lnTo>
                <a:lnTo>
                  <a:pt x="3128391" y="948055"/>
                </a:lnTo>
                <a:lnTo>
                  <a:pt x="3125251" y="971049"/>
                </a:lnTo>
                <a:lnTo>
                  <a:pt x="3112801" y="993902"/>
                </a:lnTo>
                <a:lnTo>
                  <a:pt x="3086492" y="1011420"/>
                </a:lnTo>
                <a:lnTo>
                  <a:pt x="3041777" y="1018413"/>
                </a:lnTo>
                <a:lnTo>
                  <a:pt x="3224991" y="1018413"/>
                </a:lnTo>
                <a:lnTo>
                  <a:pt x="3225767" y="1017288"/>
                </a:lnTo>
                <a:lnTo>
                  <a:pt x="3236797" y="984178"/>
                </a:lnTo>
                <a:lnTo>
                  <a:pt x="3239897" y="952373"/>
                </a:lnTo>
                <a:lnTo>
                  <a:pt x="3239897" y="940562"/>
                </a:lnTo>
                <a:lnTo>
                  <a:pt x="3236770" y="908605"/>
                </a:lnTo>
                <a:lnTo>
                  <a:pt x="3225682" y="875702"/>
                </a:lnTo>
                <a:lnTo>
                  <a:pt x="3225121" y="874903"/>
                </a:lnTo>
                <a:close/>
              </a:path>
              <a:path extrusionOk="0" h="1972945" w="5154295">
                <a:moveTo>
                  <a:pt x="2161032" y="800100"/>
                </a:moveTo>
                <a:lnTo>
                  <a:pt x="2028825" y="800100"/>
                </a:lnTo>
                <a:lnTo>
                  <a:pt x="2144014" y="941832"/>
                </a:lnTo>
                <a:lnTo>
                  <a:pt x="2024126" y="1094486"/>
                </a:lnTo>
                <a:lnTo>
                  <a:pt x="2149983" y="1094486"/>
                </a:lnTo>
                <a:lnTo>
                  <a:pt x="2224786" y="1000252"/>
                </a:lnTo>
                <a:lnTo>
                  <a:pt x="2353254" y="1000252"/>
                </a:lnTo>
                <a:lnTo>
                  <a:pt x="2307082" y="941832"/>
                </a:lnTo>
                <a:lnTo>
                  <a:pt x="2350789" y="886841"/>
                </a:lnTo>
                <a:lnTo>
                  <a:pt x="2229485" y="886841"/>
                </a:lnTo>
                <a:lnTo>
                  <a:pt x="2161032" y="800100"/>
                </a:lnTo>
                <a:close/>
              </a:path>
              <a:path extrusionOk="0" h="1972945" w="5154295">
                <a:moveTo>
                  <a:pt x="2353254" y="1000252"/>
                </a:moveTo>
                <a:lnTo>
                  <a:pt x="2224786" y="1000252"/>
                </a:lnTo>
                <a:lnTo>
                  <a:pt x="2299970" y="1094486"/>
                </a:lnTo>
                <a:lnTo>
                  <a:pt x="2427732" y="1094486"/>
                </a:lnTo>
                <a:lnTo>
                  <a:pt x="2353254" y="1000252"/>
                </a:lnTo>
                <a:close/>
              </a:path>
              <a:path extrusionOk="0" h="1972945" w="5154295">
                <a:moveTo>
                  <a:pt x="2419731" y="800100"/>
                </a:moveTo>
                <a:lnTo>
                  <a:pt x="2298319" y="800100"/>
                </a:lnTo>
                <a:lnTo>
                  <a:pt x="2229485" y="886841"/>
                </a:lnTo>
                <a:lnTo>
                  <a:pt x="2350789" y="886841"/>
                </a:lnTo>
                <a:lnTo>
                  <a:pt x="2419731" y="800100"/>
                </a:lnTo>
                <a:close/>
              </a:path>
              <a:path extrusionOk="0" h="1972945" w="5154295">
                <a:moveTo>
                  <a:pt x="1888363" y="1294384"/>
                </a:moveTo>
                <a:lnTo>
                  <a:pt x="1731137" y="1294384"/>
                </a:lnTo>
                <a:lnTo>
                  <a:pt x="1731137" y="1466088"/>
                </a:lnTo>
                <a:lnTo>
                  <a:pt x="1889760" y="1466088"/>
                </a:lnTo>
                <a:lnTo>
                  <a:pt x="1889760" y="1428242"/>
                </a:lnTo>
                <a:lnTo>
                  <a:pt x="1778000" y="1428242"/>
                </a:lnTo>
                <a:lnTo>
                  <a:pt x="1778000" y="1398397"/>
                </a:lnTo>
                <a:lnTo>
                  <a:pt x="1884807" y="1398397"/>
                </a:lnTo>
                <a:lnTo>
                  <a:pt x="1884807" y="1359662"/>
                </a:lnTo>
                <a:lnTo>
                  <a:pt x="1778000" y="1359662"/>
                </a:lnTo>
                <a:lnTo>
                  <a:pt x="1778000" y="1331722"/>
                </a:lnTo>
                <a:lnTo>
                  <a:pt x="1888363" y="1331722"/>
                </a:lnTo>
                <a:lnTo>
                  <a:pt x="1888363" y="1294384"/>
                </a:lnTo>
                <a:close/>
              </a:path>
              <a:path extrusionOk="0" h="1972945" w="5154295">
                <a:moveTo>
                  <a:pt x="2013204" y="800100"/>
                </a:moveTo>
                <a:lnTo>
                  <a:pt x="1719199" y="800100"/>
                </a:lnTo>
                <a:lnTo>
                  <a:pt x="1719199" y="1094486"/>
                </a:lnTo>
                <a:lnTo>
                  <a:pt x="2015998" y="1094486"/>
                </a:lnTo>
                <a:lnTo>
                  <a:pt x="2015998" y="1022477"/>
                </a:lnTo>
                <a:lnTo>
                  <a:pt x="1825625" y="1022477"/>
                </a:lnTo>
                <a:lnTo>
                  <a:pt x="1825625" y="982091"/>
                </a:lnTo>
                <a:lnTo>
                  <a:pt x="2007235" y="982091"/>
                </a:lnTo>
                <a:lnTo>
                  <a:pt x="2007235" y="908812"/>
                </a:lnTo>
                <a:lnTo>
                  <a:pt x="1825625" y="908812"/>
                </a:lnTo>
                <a:lnTo>
                  <a:pt x="1825625" y="871220"/>
                </a:lnTo>
                <a:lnTo>
                  <a:pt x="2013204" y="871220"/>
                </a:lnTo>
                <a:lnTo>
                  <a:pt x="2013204" y="800100"/>
                </a:lnTo>
                <a:close/>
              </a:path>
              <a:path extrusionOk="0" h="1972945" w="5154295">
                <a:moveTo>
                  <a:pt x="2303653" y="1294384"/>
                </a:moveTo>
                <a:lnTo>
                  <a:pt x="2146554" y="1294384"/>
                </a:lnTo>
                <a:lnTo>
                  <a:pt x="2146554" y="1466088"/>
                </a:lnTo>
                <a:lnTo>
                  <a:pt x="2305050" y="1466088"/>
                </a:lnTo>
                <a:lnTo>
                  <a:pt x="2305050" y="1428242"/>
                </a:lnTo>
                <a:lnTo>
                  <a:pt x="2193417" y="1428242"/>
                </a:lnTo>
                <a:lnTo>
                  <a:pt x="2193417" y="1398397"/>
                </a:lnTo>
                <a:lnTo>
                  <a:pt x="2300224" y="1398397"/>
                </a:lnTo>
                <a:lnTo>
                  <a:pt x="2300224" y="1359662"/>
                </a:lnTo>
                <a:lnTo>
                  <a:pt x="2193417" y="1359662"/>
                </a:lnTo>
                <a:lnTo>
                  <a:pt x="2193417" y="1331722"/>
                </a:lnTo>
                <a:lnTo>
                  <a:pt x="2303653" y="1331722"/>
                </a:lnTo>
                <a:lnTo>
                  <a:pt x="2303653" y="1294384"/>
                </a:lnTo>
                <a:close/>
              </a:path>
              <a:path extrusionOk="0" h="1972945" w="5154295">
                <a:moveTo>
                  <a:pt x="4900803" y="800100"/>
                </a:moveTo>
                <a:lnTo>
                  <a:pt x="4793996" y="800100"/>
                </a:lnTo>
                <a:lnTo>
                  <a:pt x="4793996" y="1094486"/>
                </a:lnTo>
                <a:lnTo>
                  <a:pt x="4900803" y="1094486"/>
                </a:lnTo>
                <a:lnTo>
                  <a:pt x="4997264" y="977646"/>
                </a:lnTo>
                <a:lnTo>
                  <a:pt x="4900803" y="977646"/>
                </a:lnTo>
                <a:lnTo>
                  <a:pt x="4900803" y="800100"/>
                </a:lnTo>
                <a:close/>
              </a:path>
              <a:path extrusionOk="0" h="1972945" w="5154295">
                <a:moveTo>
                  <a:pt x="5153914" y="916813"/>
                </a:moveTo>
                <a:lnTo>
                  <a:pt x="5047488" y="916813"/>
                </a:lnTo>
                <a:lnTo>
                  <a:pt x="5047488" y="1094486"/>
                </a:lnTo>
                <a:lnTo>
                  <a:pt x="5153914" y="1094486"/>
                </a:lnTo>
                <a:lnTo>
                  <a:pt x="5153914" y="916813"/>
                </a:lnTo>
                <a:close/>
              </a:path>
              <a:path extrusionOk="0" h="1972945" w="5154295">
                <a:moveTo>
                  <a:pt x="5153914" y="800100"/>
                </a:moveTo>
                <a:lnTo>
                  <a:pt x="5047488" y="800100"/>
                </a:lnTo>
                <a:lnTo>
                  <a:pt x="4900803" y="977646"/>
                </a:lnTo>
                <a:lnTo>
                  <a:pt x="4997264" y="977646"/>
                </a:lnTo>
                <a:lnTo>
                  <a:pt x="5047488" y="916813"/>
                </a:lnTo>
                <a:lnTo>
                  <a:pt x="5153914" y="916813"/>
                </a:lnTo>
                <a:lnTo>
                  <a:pt x="5153914" y="800100"/>
                </a:lnTo>
                <a:close/>
              </a:path>
              <a:path extrusionOk="0" h="1972945" w="5154295">
                <a:moveTo>
                  <a:pt x="3726179" y="1294384"/>
                </a:moveTo>
                <a:lnTo>
                  <a:pt x="3678682" y="1294384"/>
                </a:lnTo>
                <a:lnTo>
                  <a:pt x="3678682" y="1466088"/>
                </a:lnTo>
                <a:lnTo>
                  <a:pt x="3726179" y="1466088"/>
                </a:lnTo>
                <a:lnTo>
                  <a:pt x="3775137" y="1409827"/>
                </a:lnTo>
                <a:lnTo>
                  <a:pt x="3726179" y="1409827"/>
                </a:lnTo>
                <a:lnTo>
                  <a:pt x="3726179" y="1294384"/>
                </a:lnTo>
                <a:close/>
              </a:path>
              <a:path extrusionOk="0" h="1972945" w="5154295">
                <a:moveTo>
                  <a:pt x="3874135" y="1350645"/>
                </a:moveTo>
                <a:lnTo>
                  <a:pt x="3826637" y="1350645"/>
                </a:lnTo>
                <a:lnTo>
                  <a:pt x="3826637" y="1466088"/>
                </a:lnTo>
                <a:lnTo>
                  <a:pt x="3874135" y="1466088"/>
                </a:lnTo>
                <a:lnTo>
                  <a:pt x="3874135" y="1350645"/>
                </a:lnTo>
                <a:close/>
              </a:path>
              <a:path extrusionOk="0" h="1972945" w="5154295">
                <a:moveTo>
                  <a:pt x="3874135" y="1294384"/>
                </a:moveTo>
                <a:lnTo>
                  <a:pt x="3826637" y="1294384"/>
                </a:lnTo>
                <a:lnTo>
                  <a:pt x="3726179" y="1409827"/>
                </a:lnTo>
                <a:lnTo>
                  <a:pt x="3775137" y="1409827"/>
                </a:lnTo>
                <a:lnTo>
                  <a:pt x="3826637" y="1350645"/>
                </a:lnTo>
                <a:lnTo>
                  <a:pt x="3874135" y="1350645"/>
                </a:lnTo>
                <a:lnTo>
                  <a:pt x="3874135" y="1294384"/>
                </a:lnTo>
                <a:close/>
              </a:path>
              <a:path extrusionOk="0" h="1972945" w="5154295">
                <a:moveTo>
                  <a:pt x="3438779" y="1294384"/>
                </a:moveTo>
                <a:lnTo>
                  <a:pt x="3391280" y="1294384"/>
                </a:lnTo>
                <a:lnTo>
                  <a:pt x="3391280" y="1466088"/>
                </a:lnTo>
                <a:lnTo>
                  <a:pt x="3508755" y="1466088"/>
                </a:lnTo>
                <a:lnTo>
                  <a:pt x="3541871" y="1461710"/>
                </a:lnTo>
                <a:lnTo>
                  <a:pt x="3563461" y="1449641"/>
                </a:lnTo>
                <a:lnTo>
                  <a:pt x="3575192" y="1431476"/>
                </a:lnTo>
                <a:lnTo>
                  <a:pt x="3575698" y="1428242"/>
                </a:lnTo>
                <a:lnTo>
                  <a:pt x="3438779" y="1428242"/>
                </a:lnTo>
                <a:lnTo>
                  <a:pt x="3438779" y="1387602"/>
                </a:lnTo>
                <a:lnTo>
                  <a:pt x="3575880" y="1387602"/>
                </a:lnTo>
                <a:lnTo>
                  <a:pt x="3575300" y="1383778"/>
                </a:lnTo>
                <a:lnTo>
                  <a:pt x="3563747" y="1365837"/>
                </a:lnTo>
                <a:lnTo>
                  <a:pt x="3542192" y="1354016"/>
                </a:lnTo>
                <a:lnTo>
                  <a:pt x="3508755" y="1349756"/>
                </a:lnTo>
                <a:lnTo>
                  <a:pt x="3438779" y="1349756"/>
                </a:lnTo>
                <a:lnTo>
                  <a:pt x="3438779" y="1294384"/>
                </a:lnTo>
                <a:close/>
              </a:path>
              <a:path extrusionOk="0" h="1972945" w="5154295">
                <a:moveTo>
                  <a:pt x="3575880" y="1387602"/>
                </a:moveTo>
                <a:lnTo>
                  <a:pt x="3505073" y="1387602"/>
                </a:lnTo>
                <a:lnTo>
                  <a:pt x="3515774" y="1388935"/>
                </a:lnTo>
                <a:lnTo>
                  <a:pt x="3523345" y="1392745"/>
                </a:lnTo>
                <a:lnTo>
                  <a:pt x="3527843" y="1398746"/>
                </a:lnTo>
                <a:lnTo>
                  <a:pt x="3529282" y="1406398"/>
                </a:lnTo>
                <a:lnTo>
                  <a:pt x="3529259" y="1408811"/>
                </a:lnTo>
                <a:lnTo>
                  <a:pt x="3527843" y="1416454"/>
                </a:lnTo>
                <a:lnTo>
                  <a:pt x="3523345" y="1422717"/>
                </a:lnTo>
                <a:lnTo>
                  <a:pt x="3515774" y="1426789"/>
                </a:lnTo>
                <a:lnTo>
                  <a:pt x="3505073" y="1428242"/>
                </a:lnTo>
                <a:lnTo>
                  <a:pt x="3575698" y="1428242"/>
                </a:lnTo>
                <a:lnTo>
                  <a:pt x="3578733" y="1408811"/>
                </a:lnTo>
                <a:lnTo>
                  <a:pt x="3578733" y="1406398"/>
                </a:lnTo>
                <a:lnTo>
                  <a:pt x="3575880" y="1387602"/>
                </a:lnTo>
                <a:close/>
              </a:path>
              <a:path extrusionOk="0" h="1972945" w="5154295">
                <a:moveTo>
                  <a:pt x="3645408" y="1294384"/>
                </a:moveTo>
                <a:lnTo>
                  <a:pt x="3597910" y="1294384"/>
                </a:lnTo>
                <a:lnTo>
                  <a:pt x="3597910" y="1466088"/>
                </a:lnTo>
                <a:lnTo>
                  <a:pt x="3645408" y="1466088"/>
                </a:lnTo>
                <a:lnTo>
                  <a:pt x="3645408" y="1294384"/>
                </a:lnTo>
                <a:close/>
              </a:path>
              <a:path extrusionOk="0" h="1972945" w="5154295">
                <a:moveTo>
                  <a:pt x="3614928" y="800100"/>
                </a:moveTo>
                <a:lnTo>
                  <a:pt x="3304413" y="800100"/>
                </a:lnTo>
                <a:lnTo>
                  <a:pt x="3304139" y="874522"/>
                </a:lnTo>
                <a:lnTo>
                  <a:pt x="3304097" y="885892"/>
                </a:lnTo>
                <a:lnTo>
                  <a:pt x="3302746" y="939609"/>
                </a:lnTo>
                <a:lnTo>
                  <a:pt x="3294507" y="988441"/>
                </a:lnTo>
                <a:lnTo>
                  <a:pt x="3259328" y="1010920"/>
                </a:lnTo>
                <a:lnTo>
                  <a:pt x="3252978" y="1010920"/>
                </a:lnTo>
                <a:lnTo>
                  <a:pt x="3252978" y="1094486"/>
                </a:lnTo>
                <a:lnTo>
                  <a:pt x="3286633" y="1094486"/>
                </a:lnTo>
                <a:lnTo>
                  <a:pt x="3326469" y="1090576"/>
                </a:lnTo>
                <a:lnTo>
                  <a:pt x="3376376" y="1060946"/>
                </a:lnTo>
                <a:lnTo>
                  <a:pt x="3397553" y="1009896"/>
                </a:lnTo>
                <a:lnTo>
                  <a:pt x="3405479" y="929806"/>
                </a:lnTo>
                <a:lnTo>
                  <a:pt x="3406394" y="874522"/>
                </a:lnTo>
                <a:lnTo>
                  <a:pt x="3614928" y="874522"/>
                </a:lnTo>
                <a:lnTo>
                  <a:pt x="3614928" y="800100"/>
                </a:lnTo>
                <a:close/>
              </a:path>
              <a:path extrusionOk="0" h="1972945" w="5154295">
                <a:moveTo>
                  <a:pt x="3614928" y="874522"/>
                </a:moveTo>
                <a:lnTo>
                  <a:pt x="3508121" y="874522"/>
                </a:lnTo>
                <a:lnTo>
                  <a:pt x="3508121" y="1094486"/>
                </a:lnTo>
                <a:lnTo>
                  <a:pt x="3614928" y="1094486"/>
                </a:lnTo>
                <a:lnTo>
                  <a:pt x="3614928" y="874522"/>
                </a:lnTo>
                <a:close/>
              </a:path>
              <a:path extrusionOk="0" h="1972945" w="5154295">
                <a:moveTo>
                  <a:pt x="4490085" y="800100"/>
                </a:moveTo>
                <a:lnTo>
                  <a:pt x="4383278" y="800100"/>
                </a:lnTo>
                <a:lnTo>
                  <a:pt x="4383278" y="1094486"/>
                </a:lnTo>
                <a:lnTo>
                  <a:pt x="4490085" y="1094486"/>
                </a:lnTo>
                <a:lnTo>
                  <a:pt x="4586525" y="977773"/>
                </a:lnTo>
                <a:lnTo>
                  <a:pt x="4490085" y="977773"/>
                </a:lnTo>
                <a:lnTo>
                  <a:pt x="4490085" y="800100"/>
                </a:lnTo>
                <a:close/>
              </a:path>
              <a:path extrusionOk="0" h="1972945" w="5154295">
                <a:moveTo>
                  <a:pt x="4743323" y="916813"/>
                </a:moveTo>
                <a:lnTo>
                  <a:pt x="4636897" y="916813"/>
                </a:lnTo>
                <a:lnTo>
                  <a:pt x="4636897" y="1094486"/>
                </a:lnTo>
                <a:lnTo>
                  <a:pt x="4743323" y="1094486"/>
                </a:lnTo>
                <a:lnTo>
                  <a:pt x="4743323" y="916813"/>
                </a:lnTo>
                <a:close/>
              </a:path>
              <a:path extrusionOk="0" h="1972945" w="5154295">
                <a:moveTo>
                  <a:pt x="4743323" y="800100"/>
                </a:moveTo>
                <a:lnTo>
                  <a:pt x="4636897" y="800100"/>
                </a:lnTo>
                <a:lnTo>
                  <a:pt x="4490085" y="977773"/>
                </a:lnTo>
                <a:lnTo>
                  <a:pt x="4586525" y="977773"/>
                </a:lnTo>
                <a:lnTo>
                  <a:pt x="4636897" y="916813"/>
                </a:lnTo>
                <a:lnTo>
                  <a:pt x="4743323" y="916813"/>
                </a:lnTo>
                <a:lnTo>
                  <a:pt x="4743323" y="800100"/>
                </a:lnTo>
                <a:close/>
              </a:path>
              <a:path extrusionOk="0" h="1972945" w="5154295">
                <a:moveTo>
                  <a:pt x="4357624" y="800100"/>
                </a:moveTo>
                <a:lnTo>
                  <a:pt x="4086987" y="800100"/>
                </a:lnTo>
                <a:lnTo>
                  <a:pt x="4086987" y="1094486"/>
                </a:lnTo>
                <a:lnTo>
                  <a:pt x="4193794" y="1094486"/>
                </a:lnTo>
                <a:lnTo>
                  <a:pt x="4193794" y="874522"/>
                </a:lnTo>
                <a:lnTo>
                  <a:pt x="4357624" y="874522"/>
                </a:lnTo>
                <a:lnTo>
                  <a:pt x="4357624" y="800100"/>
                </a:lnTo>
                <a:close/>
              </a:path>
              <a:path extrusionOk="0" h="1972945" w="5154295">
                <a:moveTo>
                  <a:pt x="3214878" y="1294384"/>
                </a:moveTo>
                <a:lnTo>
                  <a:pt x="3167253" y="1294384"/>
                </a:lnTo>
                <a:lnTo>
                  <a:pt x="3167253" y="1466088"/>
                </a:lnTo>
                <a:lnTo>
                  <a:pt x="3214878" y="1466088"/>
                </a:lnTo>
                <a:lnTo>
                  <a:pt x="3214878" y="1397000"/>
                </a:lnTo>
                <a:lnTo>
                  <a:pt x="3358134" y="1397000"/>
                </a:lnTo>
                <a:lnTo>
                  <a:pt x="3358134" y="1358011"/>
                </a:lnTo>
                <a:lnTo>
                  <a:pt x="3214878" y="1358011"/>
                </a:lnTo>
                <a:lnTo>
                  <a:pt x="3214878" y="1294384"/>
                </a:lnTo>
                <a:close/>
              </a:path>
              <a:path extrusionOk="0" h="1972945" w="5154295">
                <a:moveTo>
                  <a:pt x="3358134" y="1397000"/>
                </a:moveTo>
                <a:lnTo>
                  <a:pt x="3310636" y="1397000"/>
                </a:lnTo>
                <a:lnTo>
                  <a:pt x="3310636" y="1466088"/>
                </a:lnTo>
                <a:lnTo>
                  <a:pt x="3358134" y="1466088"/>
                </a:lnTo>
                <a:lnTo>
                  <a:pt x="3358134" y="1397000"/>
                </a:lnTo>
                <a:close/>
              </a:path>
              <a:path extrusionOk="0" h="1972945" w="5154295">
                <a:moveTo>
                  <a:pt x="3358134" y="1294384"/>
                </a:moveTo>
                <a:lnTo>
                  <a:pt x="3310636" y="1294384"/>
                </a:lnTo>
                <a:lnTo>
                  <a:pt x="3310636" y="1358011"/>
                </a:lnTo>
                <a:lnTo>
                  <a:pt x="3358134" y="1358011"/>
                </a:lnTo>
                <a:lnTo>
                  <a:pt x="3358134" y="1294384"/>
                </a:lnTo>
                <a:close/>
              </a:path>
              <a:path extrusionOk="0" h="1972945" w="5154295">
                <a:moveTo>
                  <a:pt x="3859911" y="794893"/>
                </a:moveTo>
                <a:lnTo>
                  <a:pt x="3842004" y="794893"/>
                </a:lnTo>
                <a:lnTo>
                  <a:pt x="3773451" y="801449"/>
                </a:lnTo>
                <a:lnTo>
                  <a:pt x="3773653" y="801449"/>
                </a:lnTo>
                <a:lnTo>
                  <a:pt x="3723210" y="819112"/>
                </a:lnTo>
                <a:lnTo>
                  <a:pt x="3723337" y="819112"/>
                </a:lnTo>
                <a:lnTo>
                  <a:pt x="3688683" y="844724"/>
                </a:lnTo>
                <a:lnTo>
                  <a:pt x="3666932" y="875533"/>
                </a:lnTo>
                <a:lnTo>
                  <a:pt x="3655707" y="908472"/>
                </a:lnTo>
                <a:lnTo>
                  <a:pt x="3652520" y="940562"/>
                </a:lnTo>
                <a:lnTo>
                  <a:pt x="3652520" y="952373"/>
                </a:lnTo>
                <a:lnTo>
                  <a:pt x="3666847" y="1017288"/>
                </a:lnTo>
                <a:lnTo>
                  <a:pt x="3723282" y="1074782"/>
                </a:lnTo>
                <a:lnTo>
                  <a:pt x="3773596" y="1092843"/>
                </a:lnTo>
                <a:lnTo>
                  <a:pt x="3842004" y="1099566"/>
                </a:lnTo>
                <a:lnTo>
                  <a:pt x="3859911" y="1099566"/>
                </a:lnTo>
                <a:lnTo>
                  <a:pt x="3928627" y="1092843"/>
                </a:lnTo>
                <a:lnTo>
                  <a:pt x="3979027" y="1074782"/>
                </a:lnTo>
                <a:lnTo>
                  <a:pt x="4013707" y="1048543"/>
                </a:lnTo>
                <a:lnTo>
                  <a:pt x="4034489" y="1018413"/>
                </a:lnTo>
                <a:lnTo>
                  <a:pt x="3851148" y="1018413"/>
                </a:lnTo>
                <a:lnTo>
                  <a:pt x="3806372" y="1011420"/>
                </a:lnTo>
                <a:lnTo>
                  <a:pt x="3779932" y="993902"/>
                </a:lnTo>
                <a:lnTo>
                  <a:pt x="3767351" y="971049"/>
                </a:lnTo>
                <a:lnTo>
                  <a:pt x="3764153" y="948055"/>
                </a:lnTo>
                <a:lnTo>
                  <a:pt x="3764153" y="943737"/>
                </a:lnTo>
                <a:lnTo>
                  <a:pt x="3767220" y="920980"/>
                </a:lnTo>
                <a:lnTo>
                  <a:pt x="3779551" y="898652"/>
                </a:lnTo>
                <a:lnTo>
                  <a:pt x="3805836" y="881657"/>
                </a:lnTo>
                <a:lnTo>
                  <a:pt x="3850766" y="874903"/>
                </a:lnTo>
                <a:lnTo>
                  <a:pt x="4034591" y="874903"/>
                </a:lnTo>
                <a:lnTo>
                  <a:pt x="4013517" y="844867"/>
                </a:lnTo>
                <a:lnTo>
                  <a:pt x="3978801" y="819112"/>
                </a:lnTo>
                <a:lnTo>
                  <a:pt x="3928451" y="801449"/>
                </a:lnTo>
                <a:lnTo>
                  <a:pt x="3859911" y="794893"/>
                </a:lnTo>
                <a:close/>
              </a:path>
              <a:path extrusionOk="0" h="1972945" w="5154295">
                <a:moveTo>
                  <a:pt x="4034591" y="874903"/>
                </a:moveTo>
                <a:lnTo>
                  <a:pt x="3850766" y="874903"/>
                </a:lnTo>
                <a:lnTo>
                  <a:pt x="3895756" y="881657"/>
                </a:lnTo>
                <a:lnTo>
                  <a:pt x="3922172" y="898652"/>
                </a:lnTo>
                <a:lnTo>
                  <a:pt x="3934634" y="920980"/>
                </a:lnTo>
                <a:lnTo>
                  <a:pt x="3937762" y="943737"/>
                </a:lnTo>
                <a:lnTo>
                  <a:pt x="3937762" y="948055"/>
                </a:lnTo>
                <a:lnTo>
                  <a:pt x="3934640" y="971049"/>
                </a:lnTo>
                <a:lnTo>
                  <a:pt x="3922220" y="993902"/>
                </a:lnTo>
                <a:lnTo>
                  <a:pt x="3895917" y="1011420"/>
                </a:lnTo>
                <a:lnTo>
                  <a:pt x="3851148" y="1018413"/>
                </a:lnTo>
                <a:lnTo>
                  <a:pt x="4034489" y="1018413"/>
                </a:lnTo>
                <a:lnTo>
                  <a:pt x="4035265" y="1017288"/>
                </a:lnTo>
                <a:lnTo>
                  <a:pt x="4046295" y="984178"/>
                </a:lnTo>
                <a:lnTo>
                  <a:pt x="4049395" y="952373"/>
                </a:lnTo>
                <a:lnTo>
                  <a:pt x="4049395" y="940562"/>
                </a:lnTo>
                <a:lnTo>
                  <a:pt x="4046259" y="908605"/>
                </a:lnTo>
                <a:lnTo>
                  <a:pt x="4035152" y="875702"/>
                </a:lnTo>
                <a:lnTo>
                  <a:pt x="4034591" y="874903"/>
                </a:lnTo>
                <a:close/>
              </a:path>
              <a:path extrusionOk="0" h="1972945" w="5154295">
                <a:moveTo>
                  <a:pt x="3760978" y="1243838"/>
                </a:moveTo>
                <a:lnTo>
                  <a:pt x="3727323" y="1243838"/>
                </a:lnTo>
                <a:lnTo>
                  <a:pt x="3727323" y="1244473"/>
                </a:lnTo>
                <a:lnTo>
                  <a:pt x="3729036" y="1255337"/>
                </a:lnTo>
                <a:lnTo>
                  <a:pt x="3735531" y="1267475"/>
                </a:lnTo>
                <a:lnTo>
                  <a:pt x="3748905" y="1277352"/>
                </a:lnTo>
                <a:lnTo>
                  <a:pt x="3771138" y="1281430"/>
                </a:lnTo>
                <a:lnTo>
                  <a:pt x="3778123" y="1281430"/>
                </a:lnTo>
                <a:lnTo>
                  <a:pt x="3798980" y="1277352"/>
                </a:lnTo>
                <a:lnTo>
                  <a:pt x="3812301" y="1267475"/>
                </a:lnTo>
                <a:lnTo>
                  <a:pt x="3818957" y="1256030"/>
                </a:lnTo>
                <a:lnTo>
                  <a:pt x="3763264" y="1256030"/>
                </a:lnTo>
                <a:lnTo>
                  <a:pt x="3761613" y="1247521"/>
                </a:lnTo>
                <a:lnTo>
                  <a:pt x="3761087" y="1244473"/>
                </a:lnTo>
                <a:lnTo>
                  <a:pt x="3760978" y="1243838"/>
                </a:lnTo>
                <a:close/>
              </a:path>
              <a:path extrusionOk="0" h="1972945" w="5154295">
                <a:moveTo>
                  <a:pt x="3821429" y="1243838"/>
                </a:moveTo>
                <a:lnTo>
                  <a:pt x="3788029" y="1243838"/>
                </a:lnTo>
                <a:lnTo>
                  <a:pt x="3787266" y="1247521"/>
                </a:lnTo>
                <a:lnTo>
                  <a:pt x="3785616" y="1256030"/>
                </a:lnTo>
                <a:lnTo>
                  <a:pt x="3818957" y="1256030"/>
                </a:lnTo>
                <a:lnTo>
                  <a:pt x="3819360" y="1255337"/>
                </a:lnTo>
                <a:lnTo>
                  <a:pt x="3821429" y="1244473"/>
                </a:lnTo>
                <a:lnTo>
                  <a:pt x="3821429" y="1243838"/>
                </a:lnTo>
                <a:close/>
              </a:path>
              <a:path extrusionOk="0" h="1972945" w="5154295">
                <a:moveTo>
                  <a:pt x="2128774" y="1428242"/>
                </a:moveTo>
                <a:lnTo>
                  <a:pt x="1900682" y="1428242"/>
                </a:lnTo>
                <a:lnTo>
                  <a:pt x="1900682" y="1494917"/>
                </a:lnTo>
                <a:lnTo>
                  <a:pt x="1945894" y="1494917"/>
                </a:lnTo>
                <a:lnTo>
                  <a:pt x="1945894" y="1466088"/>
                </a:lnTo>
                <a:lnTo>
                  <a:pt x="2128774" y="1466088"/>
                </a:lnTo>
                <a:lnTo>
                  <a:pt x="2128774" y="1428242"/>
                </a:lnTo>
                <a:close/>
              </a:path>
              <a:path extrusionOk="0" h="1972945" w="5154295">
                <a:moveTo>
                  <a:pt x="2128774" y="1466088"/>
                </a:moveTo>
                <a:lnTo>
                  <a:pt x="2083562" y="1466088"/>
                </a:lnTo>
                <a:lnTo>
                  <a:pt x="2083562" y="1494917"/>
                </a:lnTo>
                <a:lnTo>
                  <a:pt x="2128774" y="1494917"/>
                </a:lnTo>
                <a:lnTo>
                  <a:pt x="2128774" y="1466088"/>
                </a:lnTo>
                <a:close/>
              </a:path>
              <a:path extrusionOk="0" h="1972945" w="5154295">
                <a:moveTo>
                  <a:pt x="2101088" y="1294384"/>
                </a:moveTo>
                <a:lnTo>
                  <a:pt x="1937131" y="1294384"/>
                </a:lnTo>
                <a:lnTo>
                  <a:pt x="1935797" y="1346142"/>
                </a:lnTo>
                <a:lnTo>
                  <a:pt x="1931987" y="1383363"/>
                </a:lnTo>
                <a:lnTo>
                  <a:pt x="1925986" y="1409559"/>
                </a:lnTo>
                <a:lnTo>
                  <a:pt x="1918081" y="1428242"/>
                </a:lnTo>
                <a:lnTo>
                  <a:pt x="1966214" y="1428242"/>
                </a:lnTo>
                <a:lnTo>
                  <a:pt x="1972163" y="1412865"/>
                </a:lnTo>
                <a:lnTo>
                  <a:pt x="1977326" y="1391618"/>
                </a:lnTo>
                <a:lnTo>
                  <a:pt x="1980965" y="1364680"/>
                </a:lnTo>
                <a:lnTo>
                  <a:pt x="1982343" y="1332230"/>
                </a:lnTo>
                <a:lnTo>
                  <a:pt x="2101088" y="1332230"/>
                </a:lnTo>
                <a:lnTo>
                  <a:pt x="2101088" y="1294384"/>
                </a:lnTo>
                <a:close/>
              </a:path>
              <a:path extrusionOk="0" h="1972945" w="5154295">
                <a:moveTo>
                  <a:pt x="2101088" y="1332230"/>
                </a:moveTo>
                <a:lnTo>
                  <a:pt x="2053463" y="1332230"/>
                </a:lnTo>
                <a:lnTo>
                  <a:pt x="2053463" y="1428242"/>
                </a:lnTo>
                <a:lnTo>
                  <a:pt x="2101088" y="1428242"/>
                </a:lnTo>
                <a:lnTo>
                  <a:pt x="2101088" y="1332230"/>
                </a:lnTo>
                <a:close/>
              </a:path>
              <a:path extrusionOk="0" h="1972945" w="5154295">
                <a:moveTo>
                  <a:pt x="2343785" y="1558163"/>
                </a:moveTo>
                <a:lnTo>
                  <a:pt x="2296287" y="1558163"/>
                </a:lnTo>
                <a:lnTo>
                  <a:pt x="2296287" y="1729867"/>
                </a:lnTo>
                <a:lnTo>
                  <a:pt x="2343785" y="1729867"/>
                </a:lnTo>
                <a:lnTo>
                  <a:pt x="2343785" y="1648968"/>
                </a:lnTo>
                <a:lnTo>
                  <a:pt x="2406562" y="1648968"/>
                </a:lnTo>
                <a:lnTo>
                  <a:pt x="2394204" y="1636776"/>
                </a:lnTo>
                <a:lnTo>
                  <a:pt x="2403407" y="1628775"/>
                </a:lnTo>
                <a:lnTo>
                  <a:pt x="2343785" y="1628775"/>
                </a:lnTo>
                <a:lnTo>
                  <a:pt x="2343785" y="1558163"/>
                </a:lnTo>
                <a:close/>
              </a:path>
              <a:path extrusionOk="0" h="1972945" w="5154295">
                <a:moveTo>
                  <a:pt x="2406562" y="1648968"/>
                </a:moveTo>
                <a:lnTo>
                  <a:pt x="2343785" y="1648968"/>
                </a:lnTo>
                <a:lnTo>
                  <a:pt x="2426462" y="1729867"/>
                </a:lnTo>
                <a:lnTo>
                  <a:pt x="2488565" y="1729867"/>
                </a:lnTo>
                <a:lnTo>
                  <a:pt x="2406562" y="1648968"/>
                </a:lnTo>
                <a:close/>
              </a:path>
              <a:path extrusionOk="0" h="1972945" w="5154295">
                <a:moveTo>
                  <a:pt x="2599817" y="1597406"/>
                </a:moveTo>
                <a:lnTo>
                  <a:pt x="2552446" y="1597406"/>
                </a:lnTo>
                <a:lnTo>
                  <a:pt x="2552446" y="1729867"/>
                </a:lnTo>
                <a:lnTo>
                  <a:pt x="2599817" y="1729867"/>
                </a:lnTo>
                <a:lnTo>
                  <a:pt x="2599817" y="1597406"/>
                </a:lnTo>
                <a:close/>
              </a:path>
              <a:path extrusionOk="0" h="1972945" w="5154295">
                <a:moveTo>
                  <a:pt x="2484628" y="1558163"/>
                </a:moveTo>
                <a:lnTo>
                  <a:pt x="2424176" y="1558163"/>
                </a:lnTo>
                <a:lnTo>
                  <a:pt x="2343785" y="1628775"/>
                </a:lnTo>
                <a:lnTo>
                  <a:pt x="2403407" y="1628775"/>
                </a:lnTo>
                <a:lnTo>
                  <a:pt x="2484628" y="1558163"/>
                </a:lnTo>
                <a:close/>
              </a:path>
              <a:path extrusionOk="0" h="1972945" w="5154295">
                <a:moveTo>
                  <a:pt x="2666238" y="1558163"/>
                </a:moveTo>
                <a:lnTo>
                  <a:pt x="2486025" y="1558163"/>
                </a:lnTo>
                <a:lnTo>
                  <a:pt x="2486025" y="1597406"/>
                </a:lnTo>
                <a:lnTo>
                  <a:pt x="2666238" y="1597406"/>
                </a:lnTo>
                <a:lnTo>
                  <a:pt x="2666238" y="1558163"/>
                </a:lnTo>
                <a:close/>
              </a:path>
              <a:path extrusionOk="0" h="1972945" w="5154295">
                <a:moveTo>
                  <a:pt x="2266061" y="1558163"/>
                </a:moveTo>
                <a:lnTo>
                  <a:pt x="2108962" y="1558163"/>
                </a:lnTo>
                <a:lnTo>
                  <a:pt x="2108962" y="1729867"/>
                </a:lnTo>
                <a:lnTo>
                  <a:pt x="2267458" y="1729867"/>
                </a:lnTo>
                <a:lnTo>
                  <a:pt x="2267458" y="1692021"/>
                </a:lnTo>
                <a:lnTo>
                  <a:pt x="2155698" y="1692021"/>
                </a:lnTo>
                <a:lnTo>
                  <a:pt x="2155698" y="1662176"/>
                </a:lnTo>
                <a:lnTo>
                  <a:pt x="2262505" y="1662176"/>
                </a:lnTo>
                <a:lnTo>
                  <a:pt x="2262505" y="1623441"/>
                </a:lnTo>
                <a:lnTo>
                  <a:pt x="2155698" y="1623441"/>
                </a:lnTo>
                <a:lnTo>
                  <a:pt x="2155698" y="1595628"/>
                </a:lnTo>
                <a:lnTo>
                  <a:pt x="2266061" y="1595628"/>
                </a:lnTo>
                <a:lnTo>
                  <a:pt x="2266061" y="1558163"/>
                </a:lnTo>
                <a:close/>
              </a:path>
              <a:path extrusionOk="0" h="1972945" w="5154295">
                <a:moveTo>
                  <a:pt x="1980057" y="1555369"/>
                </a:moveTo>
                <a:lnTo>
                  <a:pt x="1969897" y="1555369"/>
                </a:lnTo>
                <a:lnTo>
                  <a:pt x="1919922" y="1563336"/>
                </a:lnTo>
                <a:lnTo>
                  <a:pt x="1888236" y="1583674"/>
                </a:lnTo>
                <a:lnTo>
                  <a:pt x="1871599" y="1611036"/>
                </a:lnTo>
                <a:lnTo>
                  <a:pt x="1866773" y="1640078"/>
                </a:lnTo>
                <a:lnTo>
                  <a:pt x="1866773" y="1646936"/>
                </a:lnTo>
                <a:lnTo>
                  <a:pt x="1871599" y="1675901"/>
                </a:lnTo>
                <a:lnTo>
                  <a:pt x="1888236" y="1703593"/>
                </a:lnTo>
                <a:lnTo>
                  <a:pt x="1919922" y="1724356"/>
                </a:lnTo>
                <a:lnTo>
                  <a:pt x="1969897" y="1732534"/>
                </a:lnTo>
                <a:lnTo>
                  <a:pt x="1980057" y="1732534"/>
                </a:lnTo>
                <a:lnTo>
                  <a:pt x="2029976" y="1724356"/>
                </a:lnTo>
                <a:lnTo>
                  <a:pt x="2061693" y="1703593"/>
                </a:lnTo>
                <a:lnTo>
                  <a:pt x="2067990" y="1693164"/>
                </a:lnTo>
                <a:lnTo>
                  <a:pt x="1974977" y="1693164"/>
                </a:lnTo>
                <a:lnTo>
                  <a:pt x="1945429" y="1688592"/>
                </a:lnTo>
                <a:lnTo>
                  <a:pt x="1927479" y="1676971"/>
                </a:lnTo>
                <a:lnTo>
                  <a:pt x="1918577" y="1661445"/>
                </a:lnTo>
                <a:lnTo>
                  <a:pt x="1916176" y="1645158"/>
                </a:lnTo>
                <a:lnTo>
                  <a:pt x="1916176" y="1641856"/>
                </a:lnTo>
                <a:lnTo>
                  <a:pt x="1918612" y="1625526"/>
                </a:lnTo>
                <a:lnTo>
                  <a:pt x="1927574" y="1610280"/>
                </a:lnTo>
                <a:lnTo>
                  <a:pt x="1945536" y="1599011"/>
                </a:lnTo>
                <a:lnTo>
                  <a:pt x="1974977" y="1594612"/>
                </a:lnTo>
                <a:lnTo>
                  <a:pt x="2068464" y="1594612"/>
                </a:lnTo>
                <a:lnTo>
                  <a:pt x="2061823" y="1583674"/>
                </a:lnTo>
                <a:lnTo>
                  <a:pt x="2030140" y="1563336"/>
                </a:lnTo>
                <a:lnTo>
                  <a:pt x="2030310" y="1563336"/>
                </a:lnTo>
                <a:lnTo>
                  <a:pt x="1980057" y="1555369"/>
                </a:lnTo>
                <a:close/>
              </a:path>
              <a:path extrusionOk="0" h="1972945" w="5154295">
                <a:moveTo>
                  <a:pt x="2068464" y="1594612"/>
                </a:moveTo>
                <a:lnTo>
                  <a:pt x="1974977" y="1594612"/>
                </a:lnTo>
                <a:lnTo>
                  <a:pt x="2004437" y="1599011"/>
                </a:lnTo>
                <a:lnTo>
                  <a:pt x="2022443" y="1610280"/>
                </a:lnTo>
                <a:lnTo>
                  <a:pt x="2031448" y="1625526"/>
                </a:lnTo>
                <a:lnTo>
                  <a:pt x="2033905" y="1641856"/>
                </a:lnTo>
                <a:lnTo>
                  <a:pt x="2033905" y="1645158"/>
                </a:lnTo>
                <a:lnTo>
                  <a:pt x="2004482" y="1688592"/>
                </a:lnTo>
                <a:lnTo>
                  <a:pt x="1974977" y="1693164"/>
                </a:lnTo>
                <a:lnTo>
                  <a:pt x="2067990" y="1693164"/>
                </a:lnTo>
                <a:lnTo>
                  <a:pt x="2078340" y="1675901"/>
                </a:lnTo>
                <a:lnTo>
                  <a:pt x="2083181" y="1646936"/>
                </a:lnTo>
                <a:lnTo>
                  <a:pt x="2083181" y="1640078"/>
                </a:lnTo>
                <a:lnTo>
                  <a:pt x="2078390" y="1611036"/>
                </a:lnTo>
                <a:lnTo>
                  <a:pt x="2077978" y="1610280"/>
                </a:lnTo>
                <a:lnTo>
                  <a:pt x="2068464" y="1594612"/>
                </a:lnTo>
                <a:close/>
              </a:path>
              <a:path extrusionOk="0" h="1972945" w="5154295">
                <a:moveTo>
                  <a:pt x="2926461" y="1294384"/>
                </a:moveTo>
                <a:lnTo>
                  <a:pt x="2760091" y="1294384"/>
                </a:lnTo>
                <a:lnTo>
                  <a:pt x="2759916" y="1332230"/>
                </a:lnTo>
                <a:lnTo>
                  <a:pt x="2759840" y="1348747"/>
                </a:lnTo>
                <a:lnTo>
                  <a:pt x="2757197" y="1401183"/>
                </a:lnTo>
                <a:lnTo>
                  <a:pt x="2731770" y="1425702"/>
                </a:lnTo>
                <a:lnTo>
                  <a:pt x="2730119" y="1425702"/>
                </a:lnTo>
                <a:lnTo>
                  <a:pt x="2730119" y="1466088"/>
                </a:lnTo>
                <a:lnTo>
                  <a:pt x="2747264" y="1466088"/>
                </a:lnTo>
                <a:lnTo>
                  <a:pt x="2768649" y="1463311"/>
                </a:lnTo>
                <a:lnTo>
                  <a:pt x="2796921" y="1433576"/>
                </a:lnTo>
                <a:lnTo>
                  <a:pt x="2803382" y="1393475"/>
                </a:lnTo>
                <a:lnTo>
                  <a:pt x="2805176" y="1332230"/>
                </a:lnTo>
                <a:lnTo>
                  <a:pt x="2926461" y="1332230"/>
                </a:lnTo>
                <a:lnTo>
                  <a:pt x="2926461" y="1294384"/>
                </a:lnTo>
                <a:close/>
              </a:path>
              <a:path extrusionOk="0" h="1972945" w="5154295">
                <a:moveTo>
                  <a:pt x="2926461" y="1332230"/>
                </a:moveTo>
                <a:lnTo>
                  <a:pt x="2878963" y="1332230"/>
                </a:lnTo>
                <a:lnTo>
                  <a:pt x="2878963" y="1466088"/>
                </a:lnTo>
                <a:lnTo>
                  <a:pt x="2926461" y="1466088"/>
                </a:lnTo>
                <a:lnTo>
                  <a:pt x="2926461" y="1332230"/>
                </a:lnTo>
                <a:close/>
              </a:path>
              <a:path extrusionOk="0" h="1972945" w="5154295">
                <a:moveTo>
                  <a:pt x="3007360" y="1294384"/>
                </a:moveTo>
                <a:lnTo>
                  <a:pt x="2959735" y="1294384"/>
                </a:lnTo>
                <a:lnTo>
                  <a:pt x="2959735" y="1466088"/>
                </a:lnTo>
                <a:lnTo>
                  <a:pt x="3077210" y="1466088"/>
                </a:lnTo>
                <a:lnTo>
                  <a:pt x="3110378" y="1461710"/>
                </a:lnTo>
                <a:lnTo>
                  <a:pt x="3131962" y="1449641"/>
                </a:lnTo>
                <a:lnTo>
                  <a:pt x="3143664" y="1431476"/>
                </a:lnTo>
                <a:lnTo>
                  <a:pt x="3144167" y="1428242"/>
                </a:lnTo>
                <a:lnTo>
                  <a:pt x="3007360" y="1428242"/>
                </a:lnTo>
                <a:lnTo>
                  <a:pt x="3007360" y="1387602"/>
                </a:lnTo>
                <a:lnTo>
                  <a:pt x="3144334" y="1387602"/>
                </a:lnTo>
                <a:lnTo>
                  <a:pt x="3143754" y="1383778"/>
                </a:lnTo>
                <a:lnTo>
                  <a:pt x="3132201" y="1365837"/>
                </a:lnTo>
                <a:lnTo>
                  <a:pt x="3110646" y="1354016"/>
                </a:lnTo>
                <a:lnTo>
                  <a:pt x="3077210" y="1349756"/>
                </a:lnTo>
                <a:lnTo>
                  <a:pt x="3007360" y="1349756"/>
                </a:lnTo>
                <a:lnTo>
                  <a:pt x="3007360" y="1294384"/>
                </a:lnTo>
                <a:close/>
              </a:path>
              <a:path extrusionOk="0" h="1972945" w="5154295">
                <a:moveTo>
                  <a:pt x="3144334" y="1387602"/>
                </a:moveTo>
                <a:lnTo>
                  <a:pt x="3073527" y="1387602"/>
                </a:lnTo>
                <a:lnTo>
                  <a:pt x="3084228" y="1388935"/>
                </a:lnTo>
                <a:lnTo>
                  <a:pt x="3091799" y="1392745"/>
                </a:lnTo>
                <a:lnTo>
                  <a:pt x="3096297" y="1398746"/>
                </a:lnTo>
                <a:lnTo>
                  <a:pt x="3097736" y="1406398"/>
                </a:lnTo>
                <a:lnTo>
                  <a:pt x="3097713" y="1408811"/>
                </a:lnTo>
                <a:lnTo>
                  <a:pt x="3096297" y="1416454"/>
                </a:lnTo>
                <a:lnTo>
                  <a:pt x="3091799" y="1422717"/>
                </a:lnTo>
                <a:lnTo>
                  <a:pt x="3084228" y="1426789"/>
                </a:lnTo>
                <a:lnTo>
                  <a:pt x="3073527" y="1428242"/>
                </a:lnTo>
                <a:lnTo>
                  <a:pt x="3144167" y="1428242"/>
                </a:lnTo>
                <a:lnTo>
                  <a:pt x="3147187" y="1408811"/>
                </a:lnTo>
                <a:lnTo>
                  <a:pt x="3147187" y="1406398"/>
                </a:lnTo>
                <a:lnTo>
                  <a:pt x="3144334" y="1387602"/>
                </a:lnTo>
                <a:close/>
              </a:path>
              <a:path extrusionOk="0" h="1972945" w="5154295">
                <a:moveTo>
                  <a:pt x="1075055" y="823087"/>
                </a:moveTo>
                <a:lnTo>
                  <a:pt x="644474" y="823087"/>
                </a:lnTo>
                <a:lnTo>
                  <a:pt x="644474" y="1733550"/>
                </a:lnTo>
                <a:lnTo>
                  <a:pt x="1075055" y="1972564"/>
                </a:lnTo>
                <a:lnTo>
                  <a:pt x="1075055" y="823087"/>
                </a:lnTo>
                <a:close/>
              </a:path>
              <a:path extrusionOk="0" h="1972945" w="5154295">
                <a:moveTo>
                  <a:pt x="661797" y="337312"/>
                </a:moveTo>
                <a:lnTo>
                  <a:pt x="0" y="719328"/>
                </a:lnTo>
                <a:lnTo>
                  <a:pt x="411276" y="956818"/>
                </a:lnTo>
                <a:lnTo>
                  <a:pt x="644474" y="823087"/>
                </a:lnTo>
                <a:lnTo>
                  <a:pt x="1075055" y="823087"/>
                </a:lnTo>
                <a:lnTo>
                  <a:pt x="1075055" y="576326"/>
                </a:lnTo>
                <a:lnTo>
                  <a:pt x="661797" y="337312"/>
                </a:lnTo>
                <a:close/>
              </a:path>
              <a:path extrusionOk="0" h="1972945" w="5154295">
                <a:moveTo>
                  <a:pt x="1245997" y="0"/>
                </a:moveTo>
                <a:lnTo>
                  <a:pt x="730504" y="297561"/>
                </a:lnTo>
                <a:lnTo>
                  <a:pt x="1141857" y="535051"/>
                </a:lnTo>
                <a:lnTo>
                  <a:pt x="1659382" y="238887"/>
                </a:lnTo>
                <a:lnTo>
                  <a:pt x="12459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5"/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7185" y="216264"/>
            <a:ext cx="1072450" cy="32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226" y="235023"/>
            <a:ext cx="960744" cy="24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953" y="178391"/>
            <a:ext cx="269561" cy="349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7496" y="236613"/>
            <a:ext cx="966629" cy="26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09143" y="198367"/>
            <a:ext cx="270053" cy="309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9">
            <a:alphaModFix/>
          </a:blip>
          <a:srcRect b="0" l="28694" r="0" t="0"/>
          <a:stretch/>
        </p:blipFill>
        <p:spPr>
          <a:xfrm>
            <a:off x="5478049" y="0"/>
            <a:ext cx="366765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title="Логотип Открытые инновации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91150" y="205915"/>
            <a:ext cx="1072460" cy="3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5700775" y="979225"/>
            <a:ext cx="1472700" cy="3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ФИНУНИВЕРСИТЕТ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9" name="Google Shape;99;p13" title="Лого_ПУТП_черный - RGB-0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48575" y="8103"/>
            <a:ext cx="960748" cy="748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456818" y="1257881"/>
            <a:ext cx="46557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>
                <a:solidFill>
                  <a:schemeClr val="dk2"/>
                </a:solidFill>
              </a:rPr>
              <a:t>АКТУАЛЬНОСТЬ ИДЕИ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57200" y="1874519"/>
            <a:ext cx="80467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Масштаб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федеральный. Проблема касается всех субъектов малого и среднего бизнеса России (порядка 6 млн по данным реестра МСП ФНС; цифра требует уточнения на дату).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Польза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компании реже пропускают новые требования и сроки и тратят меньше времени на мониторинг; университет получает рабочий образец прикладного ИИ-продукта для бизнеса.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Тренды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объём и скорость изменений законодательства растут; бизнес переходит на цифровые сервисы и мессенджеры; развиваются LegalTech и ИИ-ассистенты.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Заделы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интерактивный демо-прототип сайта и личного кабинета, экономическая модель и тарифы, план бета-тестирования; команда с компетенциями в финансах, разработке и аналитике.</a:t>
            </a:r>
          </a:p>
        </p:txBody>
      </p:sp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 b="-6560" l="-2310" r="2310" t="6560"/>
          <a:stretch/>
        </p:blipFill>
        <p:spPr>
          <a:xfrm>
            <a:off x="4011224" y="2450450"/>
            <a:ext cx="5352598" cy="274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456817" y="828781"/>
            <a:ext cx="46557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>
                <a:solidFill>
                  <a:schemeClr val="dk2"/>
                </a:solidFill>
              </a:rPr>
              <a:t>ПРОБЛЕМА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57200" y="146304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77750" lIns="77750" spcFirstLastPara="1" rIns="77750" wrap="square" tIns="77750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Проблема клиента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законодательство меняется постоянно, а малый бизнес без собственного юриста не успевает заметить изменения и понять, касаются ли они именно его.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Почему существующих решений недостаточно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справочные системы (КонсультантПлюс, Гарант) и новостные рассылки дают весь поток без персонализации, а их стоимость для малого бизнеса высока (ориентир от ≈3 500 ₽/мес).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Как решают сейчас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читают новости и профильные каналы вручную, обращаются к бухгалтеру или юристу за разовой консультацией, узнают об изменениях постфактум.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Оценка потерь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штрафы и претензии при пропуске норм, срочные и дорогие переделки документов, время руководителя и бухгалтера на ручной мониторинг (количественная оценка уточняется в ходе CustDev).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Подтверждение проблемы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проблемные интервью с 15–20 представителями малого бизнеса, юристами, бухгалтерами и HR запланированы на ближайшие 1–3 месяца; результаты будут добавлены на слайд.</a:t>
            </a:r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456817" y="1035369"/>
            <a:ext cx="46557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>
                <a:solidFill>
                  <a:schemeClr val="dk2"/>
                </a:solidFill>
              </a:rPr>
              <a:t>ЦЕЛЕВАЯ АУДИТОРИЯ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457200" y="1783080"/>
            <a:ext cx="80467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Кто платит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ИП, микро- и малый бизнес без собственного юриста; приоритетные отрасли — интернет-торговля, IT, строительство, компании с наёмным персоналом, реклама.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Контекст и потери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нет времени отслеживать нормы; пропуск изменения ведёт к штрафам, претензиям и срочным переделкам документов.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Масштаб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порядка 6 млн субъектов МСП в России; приоритетные отрасли — оценочно около 10% (≈600 тыс. компаний), уточняется.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Роли в B2B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Пользователь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бухгалтер, HR, юрист, комплаенс-специалист компании.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ЛПР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собственник или руководитель, оплачивающий подписку.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Влияющие лица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внешний бухгалтер или юрист на аутсорсе, бизнес-ассоциации.</a:t>
            </a:r>
          </a:p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456817" y="829256"/>
            <a:ext cx="46557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>
                <a:solidFill>
                  <a:schemeClr val="dk2"/>
                </a:solidFill>
              </a:rPr>
              <a:t>РЕШЕНИЕ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457200" y="1463040"/>
            <a:ext cx="53492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77750" lIns="77750" spcFirstLastPara="1" rIns="77750" wrap="square" tIns="77750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ru" sz="10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Суть</a:t>
            </a:r>
            <a:r>
              <a:rPr lang="ru" sz="10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клиент заполняет профиль компании (отрасль, налоговый режим, численность, регионы) и получает персональную ленту и дайджест изменений. Сейчас: готов демо-прототип сайта. Цель: бета-версия с ИИ-разбором источников, e-mail и Telegram.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ru" sz="10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Как решает проблему</a:t>
            </a:r>
            <a:r>
              <a:rPr lang="ru" sz="10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отвечает на три вопроса — что изменилось, касается ли нас, что сделать (шаги, ответственные, сроки, ссылка на первоисточник).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ru" sz="10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Отличия</a:t>
            </a:r>
            <a:r>
              <a:rPr lang="ru" sz="10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фильтр по профилю компании и объяснение «почему это вас касается», уровень уверенности ИИ и проверка юристом, цена от 690 ₽/мес.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ru" sz="10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Выгоды</a:t>
            </a:r>
            <a:r>
              <a:rPr lang="ru" sz="10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экономия времени, спокойствие за сроки, единый список дел.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ru" sz="10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Экономика</a:t>
            </a:r>
            <a:r>
              <a:rPr lang="ru" sz="10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тарифы в разы дешевле аналогов; безубыточность по модели ≈335 платных клиентов.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000"/>
              <a:buFont typeface="Arial"/>
              <a:buChar char="•"/>
            </a:pPr>
            <a:r>
              <a:rPr lang="ru" sz="10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Применение</a:t>
            </a:r>
            <a:r>
              <a:rPr lang="ru" sz="10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малый бизнес, аутсорсеры (бухгалтеры, юристы), корпоративные юротделы; применения двойного назначения нет.</a:t>
            </a:r>
          </a:p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5943600" y="3310128"/>
            <a:ext cx="2697480" cy="3657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300" lIns="58300" spcFirstLastPara="1" rIns="58300" wrap="square" tIns="583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 sz="900">
                <a:solidFill>
                  <a:srgbClr val="132C40"/>
                </a:solidFill>
              </a:rPr>
              <a:t>Макет личного кабинета (демо-версия)</a:t>
            </a:r>
            <a:endParaRPr>
              <a:solidFill>
                <a:srgbClr val="132C40"/>
              </a:solidFill>
            </a:endParaRPr>
          </a:p>
        </p:txBody>
      </p:sp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pic>
        <p:nvPicPr>
          <p:cNvPr id="500" name="Picture 500" descr="Макет личного кабинета LawTracker"/>
          <p:cNvPicPr>
            <a:picLocks noChangeAspect="1"/>
          </p:cNvPicPr>
          <p:nvPr/>
        </p:nvPicPr>
        <p:blipFill>
          <a:blip r:embed="rIdAdd500"/>
          <a:stretch>
            <a:fillRect/>
          </a:stretch>
        </p:blipFill>
        <p:spPr>
          <a:xfrm>
            <a:off x="5943600" y="1572768"/>
            <a:ext cx="2697480" cy="1705356"/>
          </a:xfrm>
          <a:prstGeom prst="rect">
            <a:avLst/>
          </a:prstGeom>
          <a:ln w="9525">
            <a:solidFill>
              <a:schemeClr val="dk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35" name="Google Shape;135;p18"/>
          <p:cNvSpPr txBox="1"/>
          <p:nvPr/>
        </p:nvSpPr>
        <p:spPr>
          <a:xfrm>
            <a:off x="413913" y="1223283"/>
            <a:ext cx="6803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ТЕХНОЛОГИЧЕСКОЕ ЯДРО ПРОЕКТА</a:t>
            </a:r>
            <a:endParaRPr sz="27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11480" y="1783080"/>
            <a:ext cx="475488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Ядро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ИИ-обработка текстов (NLP, большие языковые модели) — автоматическая классификация изменений законодательства и сопоставление с профилем компании.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Конвейер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сбор официальных источников → разбор и структурирование → оценка применимости к профилю → краткое объяснение и план действий → проверка юристом спорных случаев → доставка (кабинет, e-mail, Telegram).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Основа решения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облачная платформа, веб-клиент, серверная часть с API и базой данных, Telegram Bot API.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Критическая технология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технологии искусственного интеллекта и анализа больших данных (автоматическая обработка неструктурированных текстов).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Целевые параметры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точность классификации не ниже 85–90%, появление изменения в ленте в течение суток.</a:t>
            </a:r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161" y="1663375"/>
            <a:ext cx="3840143" cy="3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456817" y="1173405"/>
            <a:ext cx="46557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>
                <a:solidFill>
                  <a:schemeClr val="dk2"/>
                </a:solidFill>
              </a:rPr>
              <a:t>РЕШЕНИЕ</a:t>
            </a:r>
            <a:r>
              <a:rPr lang="ru" sz="3000">
                <a:solidFill>
                  <a:srgbClr val="980000"/>
                </a:solidFill>
              </a:rPr>
              <a:t>*</a:t>
            </a:r>
            <a:endParaRPr sz="3000">
              <a:solidFill>
                <a:srgbClr val="980000"/>
              </a:solidFill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530725" y="2037541"/>
            <a:ext cx="65139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7750" lIns="77750" spcFirstLastPara="1" rIns="77750" wrap="square" tIns="7775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i="1"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Уровень</a:t>
            </a:r>
            <a:r>
              <a:rPr i="1"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i="1"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локализации</a:t>
            </a:r>
            <a:endParaRPr i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i="1"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Какое оборудование, помещения и программное обеспечение нужны для производства продукта?</a:t>
            </a:r>
            <a:endParaRPr i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i="1"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Какие материалы, расходники и другие ресурсы потребуются для производства?</a:t>
            </a:r>
            <a:endParaRPr i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i="1"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Какие технологические операции и действия нужно выполнить для производства?</a:t>
            </a:r>
            <a:endParaRPr i="1">
              <a:solidFill>
                <a:schemeClr val="dk2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132C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45" name="Google Shape;145;p19"/>
          <p:cNvSpPr txBox="1"/>
          <p:nvPr/>
        </p:nvSpPr>
        <p:spPr>
          <a:xfrm>
            <a:off x="390525" y="4426450"/>
            <a:ext cx="841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98000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* для разработок поздних стадий (уровень технологической готовности выше - 6)</a:t>
            </a:r>
            <a:endParaRPr sz="100"/>
          </a:p>
        </p:txBody>
      </p:sp>
      <p:sp>
        <p:nvSpPr>
          <p:cNvPr id="146" name="Google Shape;146;p19"/>
          <p:cNvSpPr txBox="1"/>
          <p:nvPr/>
        </p:nvSpPr>
        <p:spPr>
          <a:xfrm>
            <a:off x="622275" y="742300"/>
            <a:ext cx="841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98000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СЛАЙД ИСПОЛЬЗУЕТСЯ ПОСЛЕ ЭКВАТОРА</a:t>
            </a:r>
            <a:endParaRPr sz="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411600" y="1524818"/>
            <a:ext cx="83208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>
                <a:solidFill>
                  <a:schemeClr val="dk2"/>
                </a:solidFill>
              </a:rPr>
              <a:t>ЦЕННОСТЬ, ЦЕННОСТНОЕ ПРЕДЛОЖЕНИЕ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808057" y="2104425"/>
            <a:ext cx="51189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Мы, компания</a:t>
            </a:r>
            <a:r>
              <a:rPr b="0" i="0" lang="ru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Х,</a:t>
            </a:r>
            <a:endParaRPr b="0" i="0" sz="1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помогаем</a:t>
            </a:r>
            <a:r>
              <a:rPr b="0" i="0" lang="ru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клиентам типа Y </a:t>
            </a:r>
            <a:endParaRPr b="0" i="0" sz="1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в ситуации</a:t>
            </a:r>
            <a:r>
              <a:rPr b="0" i="0" lang="ru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Z </a:t>
            </a:r>
            <a:endParaRPr b="0" i="0" sz="1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решать проблему</a:t>
            </a:r>
            <a:r>
              <a:rPr b="0" i="0" lang="ru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P </a:t>
            </a:r>
            <a:endParaRPr b="0" i="0" sz="1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с помощью</a:t>
            </a:r>
            <a:r>
              <a:rPr b="0" i="0" lang="ru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технологии S </a:t>
            </a:r>
            <a:endParaRPr b="0" i="0" sz="1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и получать</a:t>
            </a:r>
            <a:r>
              <a:rPr b="0" i="0" lang="ru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ценность V</a:t>
            </a:r>
            <a:endParaRPr b="0" i="0" sz="1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54" name="Google Shape;154;p20"/>
          <p:cNvSpPr txBox="1"/>
          <p:nvPr/>
        </p:nvSpPr>
        <p:spPr>
          <a:xfrm>
            <a:off x="397495" y="927413"/>
            <a:ext cx="841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98000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СЛАЙД ИСПОЛЬЗУЕТСЯ ПОСЛЕ ЭКВАТОРА</a:t>
            </a:r>
            <a:endParaRPr sz="100"/>
          </a:p>
        </p:txBody>
      </p:sp>
      <p:pic>
        <p:nvPicPr>
          <p:cNvPr id="155" name="Google Shape;1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783" y="2130884"/>
            <a:ext cx="2893776" cy="29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/>
        </p:nvSpPr>
        <p:spPr>
          <a:xfrm>
            <a:off x="457200" y="1645920"/>
            <a:ext cx="81381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Рынок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российский рынок информационно-правовых систем и LegalTech-сервисов для малого и среднего бизнеса; клиенты — компании без собственного юриста.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TAM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≈6 млн субъектов МСП × средний чек ≈1 090 ₽/мес (≈13 тыс. ₽/год) ≈ 78 млрд ₽/год (расчётная оценка).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SAM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компании приоритетных отраслей (допущение ≈10%, ≈600 тыс. компаний) ≈ 7,8 млрд ₽/год.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SOM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ориентир на 2-й год — 1 000 платных клиентов ≈ 13 млн ₽/год; безубыточность ≈335 платных клиентов.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Динамика и сезонность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спрос растёт вместе с количеством изменений в законах; всплески интереса — в начале года и в отчётные периоды.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Оценки расчётные, цены предварительные; данные о числе компаний уточняются.</a:t>
            </a:r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432325" y="984693"/>
            <a:ext cx="83208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>
                <a:solidFill>
                  <a:schemeClr val="dk2"/>
                </a:solidFill>
              </a:rPr>
              <a:t>РЫНОК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69" name="Google Shape;169;p22"/>
          <p:cNvSpPr txBox="1"/>
          <p:nvPr/>
        </p:nvSpPr>
        <p:spPr>
          <a:xfrm>
            <a:off x="395007" y="905946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КОНКУРЕНТЫ И АНАЛОГИ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393192" y="137160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Сравнение по открытым данным, показатели конкурентов уточняются.</a:t>
            </a:r>
            <a:endParaRPr i="1"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aphicFrame>
        <p:nvGraphicFramePr>
          <p:cNvPr id="171" name="Google Shape;171;p22"/>
          <p:cNvGraphicFramePr/>
          <p:nvPr/>
        </p:nvGraphicFramePr>
        <p:xfrm>
          <a:off x="393192" y="1783080"/>
          <a:ext cx="8321040" cy="1828800"/>
        </p:xfrm>
        <a:graphic>
          <a:graphicData uri="http://schemas.openxmlformats.org/drawingml/2006/table">
            <a:tbl>
              <a:tblPr>
                <a:noFill/>
                <a:tableStyleId>{80F287D7-C137-4E24-955F-E27BD1F2969A}</a:tableStyleId>
              </a:tblPr>
              <a:tblGrid>
                <a:gridCol w="1600200"/>
                <a:gridCol w="1417320"/>
                <a:gridCol w="1783080"/>
                <a:gridCol w="1737360"/>
                <a:gridCol w="1783080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lt2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Характеристики продукта</a:t>
                      </a:r>
                      <a:endParaRPr sz="800">
                        <a:solidFill>
                          <a:schemeClr val="lt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2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LawTracker</a:t>
                      </a:r>
                      <a:endParaRPr sz="1100">
                        <a:solidFill>
                          <a:schemeClr val="lt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lt2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КонсультантПлюс (Россия)</a:t>
                      </a:r>
                      <a:endParaRPr sz="800">
                        <a:solidFill>
                          <a:schemeClr val="lt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dk2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Гарант (Россия)</a:t>
                      </a:r>
                      <a:endParaRPr sz="800">
                        <a:solidFill>
                          <a:schemeClr val="dk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dk2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Ручной мониторинг (Россия)</a:t>
                      </a:r>
                      <a:endParaRPr sz="800">
                        <a:solidFill>
                          <a:schemeClr val="dk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Персональная лента по профилю компании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Да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Ручные подборки и обзоры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Ручные подборки и обзоры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Нет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Объяснение и план действий (шаги, сроки)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Да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Обзоры и комментарии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Обзоры и комментарии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Зависит от специалиста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Ориентир цены для малого бизнеса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от 690 ₽/мес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от ≈3 500 ₽/мес (оценка)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по запросу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Время или оплата услуг специалиста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/>
        </p:nvSpPr>
        <p:spPr>
          <a:xfrm>
            <a:off x="457200" y="1965960"/>
            <a:ext cx="81381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Что продаём?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подписку на персональный мониторинг изменений законодательства (кабинет, e-mail, Telegram).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Кому?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ИП и малому бизнесу без юриста; юристам, бухгалтерам, HR и комплаенс-специалистам.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Польза клиенту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экономия времени, ни одного пропущенного срока, понятный план действий.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Доход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freemium + подписка: Базовый 690 ₽/мес, Профессиональный 1 690 ₽/мес, Корпоративный от 4 900 ₽/мес (при оплате за год — 6 600 и 16 200 ₽).</a:t>
            </a:r>
          </a:p>
        </p:txBody>
      </p:sp>
      <p:sp>
        <p:nvSpPr>
          <p:cNvPr id="177" name="Google Shape;177;p23"/>
          <p:cNvSpPr txBox="1"/>
          <p:nvPr/>
        </p:nvSpPr>
        <p:spPr>
          <a:xfrm>
            <a:off x="457200" y="3794760"/>
            <a:ext cx="8138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Прогноз (цены и допущения предварительные)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продажи с 4-го месяца; средний чек ≈1 090 ₽/мес; безубыточность ≈335 платных клиентов; ориентир — 1 000 платных клиентов ≈ 13 млн ₽ выручки в год. Каналы: Telegram-каналы, партнёры-бухгалтеры, бизнес-ассоциации.</a:t>
            </a:r>
          </a:p>
        </p:txBody>
      </p:sp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79" name="Google Shape;179;p23"/>
          <p:cNvSpPr txBox="1"/>
          <p:nvPr>
            <p:ph type="title"/>
          </p:nvPr>
        </p:nvSpPr>
        <p:spPr>
          <a:xfrm>
            <a:off x="456818" y="1257881"/>
            <a:ext cx="465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ru" sz="3000">
                <a:solidFill>
                  <a:schemeClr val="dk2"/>
                </a:solidFill>
              </a:rPr>
              <a:t>БИЗНЕС-МОДЕЛЬ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456818" y="927322"/>
            <a:ext cx="465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ru" sz="3000">
                <a:solidFill>
                  <a:schemeClr val="dk2"/>
                </a:solidFill>
              </a:rPr>
              <a:t>КОМАНДА И ПРОГРЕСС</a:t>
            </a:r>
            <a:endParaRPr sz="3000">
              <a:solidFill>
                <a:schemeClr val="dk2"/>
              </a:solidFill>
            </a:endParaRPr>
          </a:p>
        </p:txBody>
      </p:sp>
      <p:graphicFrame>
        <p:nvGraphicFramePr>
          <p:cNvPr id="185" name="Google Shape;185;p24"/>
          <p:cNvGraphicFramePr/>
          <p:nvPr/>
        </p:nvGraphicFramePr>
        <p:xfrm>
          <a:off x="457200" y="1645920"/>
          <a:ext cx="8229600" cy="1828800"/>
        </p:xfrm>
        <a:graphic>
          <a:graphicData uri="http://schemas.openxmlformats.org/drawingml/2006/table">
            <a:tbl>
              <a:tblPr>
                <a:noFill/>
                <a:tableStyleId>{80F287D7-C137-4E24-955F-E27BD1F2969A}</a:tableStyleId>
              </a:tblPr>
              <a:tblGrid>
                <a:gridCol w="1828800"/>
                <a:gridCol w="1371600"/>
                <a:gridCol w="27432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 u="none" cap="none" strike="noStrike">
                          <a:solidFill>
                            <a:srgbClr val="132C40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ФИО</a:t>
                      </a:r>
                      <a:endParaRPr sz="1100" u="none" cap="none" strike="noStrike">
                        <a:solidFill>
                          <a:srgbClr val="132C40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132C40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Роль / должность</a:t>
                      </a:r>
                      <a:endParaRPr sz="1100">
                        <a:solidFill>
                          <a:srgbClr val="132C40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132C40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Функционал</a:t>
                      </a:r>
                      <a:endParaRPr sz="1100">
                        <a:solidFill>
                          <a:srgbClr val="132C40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>
                          <a:solidFill>
                            <a:srgbClr val="132C40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ОПЫТ и КОМПЕТЕНЦИИ</a:t>
                      </a:r>
                      <a:endParaRPr sz="1100" u="none" cap="none" strike="noStrike">
                        <a:solidFill>
                          <a:srgbClr val="132C40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Лерер Антон Ильич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Лидер команды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Продукт и дизайн, организация работы, питч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Руководит проектом; подготовил прототип сайта и материалы проекта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Парамонов Николай Дмитриевич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Экономист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Составление бизнес-модели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Студент 1 курса, Корпоративные финансы, Финансовый университет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Шелков Михаил Маратович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Разработчик (front-end)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Разработка пользовательской части платформы и Telegram-бота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Студент 1 курса, Корпоративные финансы, Финансовый университет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Литвиненко Ростислав Сергеевич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Разработчик (back-end)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Разработка серверной части платформы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Студент 1 курса, Корпоративные финансы, Финансовый университет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Обманкина Мария Юрьевна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Аналитик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Анализ рынка, общение с компаниями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0" i="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Студент 1 курса, Корпоративные финансы, Финансовый университет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2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 cap="flat" cmpd="sng" w="9525">
            <a:solidFill>
              <a:srgbClr val="8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Наставник: Елбаева Наталья Абуевна. Состав команды на «входе» и «выходе» из программы: 5 человек.</a:t>
            </a:r>
          </a:p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94" name="Google Shape;194;p25"/>
          <p:cNvSpPr txBox="1"/>
          <p:nvPr/>
        </p:nvSpPr>
        <p:spPr>
          <a:xfrm>
            <a:off x="395007" y="1170393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ПАРТНЕРЫ (при наличии)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393192" y="1737360"/>
            <a:ext cx="8138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Задача партнёра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проект инициирован самой командой, готовой задачи от партнёра в его основе нет.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Партнёры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на данный момент не привлечены; переговоры запланированы.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Планируемые партнёры и роли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бизнес-ассоциации и объединения предпринимателей — площадка для пилота и канал привлечения клиентов; юристы-эксперты — проверка значимых изменений; бухгалтерские и юридические аутсорсинговые компании — канал продаж и обратная связь.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401731" y="1270000"/>
            <a:ext cx="799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ТЕКУЩИЕ РЕЗУЛЬТАТЫ </a:t>
            </a:r>
            <a:r>
              <a:rPr lang="ru" sz="2800">
                <a:solidFill>
                  <a:schemeClr val="dk2"/>
                </a:solidFill>
              </a:rPr>
              <a:t>И </a:t>
            </a:r>
            <a:r>
              <a:rPr lang="ru" sz="2800">
                <a:solidFill>
                  <a:schemeClr val="dk2"/>
                </a:solidFill>
              </a:rPr>
              <a:t>ПЛАНЫ РАЗВИТИЯ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457200" y="1828800"/>
            <a:ext cx="8138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77750" lIns="77750" spcFirstLastPara="1" rIns="77750" wrap="square" tIns="7775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Что сделано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Сформирована концепция, подготовлены техническое задание и интерактивный демо-прототип сайта (лендинг, регистрация, профиль компании, лента, карточка изменения, дайджесты).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Рассчитаны экономическая модель, тарифы и безубыточность; подготовлены one-pager, паспорт проекта и план бета-тестирования.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Планы на 1–1,5 года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1–3 мес.: CustDev (15–20 интервью), закрытая бета без монетизации, 30–50 тестовых компаний.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3–6 мес.: Telegram-бот, ИИ-разбор источников, платные тарифы, первые партнёры.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6–12 мес.: 300–500 компаний, проверка юристом, регистрация программы для ЭВМ.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12–18 мес.: выход на безубыточность (≈335 платных клиентов), поиск гранта или инвестиций.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Клиентов, договорённостей и инвестиций пока нет.</a:t>
            </a:r>
          </a:p>
        </p:txBody>
      </p:sp>
      <p:sp>
        <p:nvSpPr>
          <p:cNvPr id="202" name="Google Shape;202;p26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456827" y="1257875"/>
            <a:ext cx="601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ru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ЗАПРОС 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457200" y="1920240"/>
            <a:ext cx="8138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Партнёрам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площадки для пилота (бизнес-ассоциации), экспертиза юриста для проверки значимых изменений, канал привлечения первых 30–50 компаний.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Инвесторам, фондам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ориентир 1,5–3 млн ₽ на 6–12 месяцев — покрытие минимальных постоянных расходов (≈252 тыс. ₽/мес) до безубыточности: серверная часть и ИИ-разбор, юридическая экспертиза, маркетинг, инфраструктура. Сумма уточняется.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Университету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наставничество и экспертиза юристов и ИИ-специалистов, облачные ресурсы, площадка для пилотирования, консультации по защите интеллектуальной собственности.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Результат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рабочая бета-версия с ИИ-разбором и Telegram-ботом, 30–50 тестовых компаний, первые платящие клиенты и проверенные гипотезы ценности.</a:t>
            </a:r>
          </a:p>
        </p:txBody>
      </p:sp>
      <p:sp>
        <p:nvSpPr>
          <p:cNvPr id="209" name="Google Shape;209;p27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456817" y="1543631"/>
            <a:ext cx="4655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>
                <a:solidFill>
                  <a:schemeClr val="dk2"/>
                </a:solidFill>
              </a:rPr>
              <a:t>КОНТАКТЫ ЛИДЕРА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456818" y="2454581"/>
            <a:ext cx="3603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/>
          <a:p>
            <a:pPr indent="-203200" lvl="0" marL="406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 sz="1400"/>
              <a:t>Фото</a:t>
            </a:r>
            <a:endParaRPr sz="1400"/>
          </a:p>
        </p:txBody>
      </p:sp>
      <p:sp>
        <p:nvSpPr>
          <p:cNvPr id="216" name="Google Shape;216;p28"/>
          <p:cNvSpPr txBox="1"/>
          <p:nvPr>
            <p:ph idx="1" type="body"/>
          </p:nvPr>
        </p:nvSpPr>
        <p:spPr>
          <a:xfrm>
            <a:off x="4617720" y="2359152"/>
            <a:ext cx="30632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Лерер Антон Ильич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Лидер команды LawTracker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Финансовый университет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Leader-ID: leader-id.ru/users/7792463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Демо: rostislavlit.github.io/lawtracker</a:t>
            </a:r>
          </a:p>
        </p:txBody>
      </p:sp>
      <p:sp>
        <p:nvSpPr>
          <p:cNvPr id="217" name="Google Shape;217;p28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218" name="Google Shape;218;p28"/>
          <p:cNvSpPr/>
          <p:nvPr/>
        </p:nvSpPr>
        <p:spPr>
          <a:xfrm>
            <a:off x="561525" y="2282000"/>
            <a:ext cx="1954200" cy="166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4572000" y="2282000"/>
            <a:ext cx="3132000" cy="166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456817" y="1257881"/>
            <a:ext cx="4655700" cy="6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Приложения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457200" y="1965960"/>
            <a:ext cx="8138160" cy="27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Демо-версия сайта</a:t>
            </a: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https://rostislavlit.github.io/lawtracker/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One-pager проекта (PDF)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Паспорт стартап-проекта и паспорт команды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Экономическая модель и расчёт тарифов (Excel)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План бета-тестирования, перечень функций платформы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" sz="12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Макеты сайта: палитры, шрифты, логотипы</a:t>
            </a:r>
          </a:p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355340" y="919168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chemeClr val="dk2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УРОВЕНЬ ГОТОВНОСТИ ТЕХНОЛОГИИ</a:t>
            </a:r>
            <a:endParaRPr sz="8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356616" y="137160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Текущий уровень — TRL 3–4</a:t>
            </a:r>
            <a:r>
              <a:rPr lang="ru" sz="1100" b="0" i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 xml:space="preserve">: концепция, экономическая модель и интерактивный демо-прототип пользовательской части готовы; серверная часть и ИИ-разбор в разработке. Артефакты: демо-версия сайта (ссылка), макеты, экономическая модель.</a:t>
            </a:r>
          </a:p>
        </p:txBody>
      </p:sp>
      <p:sp>
        <p:nvSpPr>
          <p:cNvPr id="234" name="Google Shape;234;p30"/>
          <p:cNvSpPr/>
          <p:nvPr/>
        </p:nvSpPr>
        <p:spPr>
          <a:xfrm>
            <a:off x="382422" y="1987876"/>
            <a:ext cx="43443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ОПИСАНИЕ УРОВНЕЙ ГОТОВНОСТИ И СООТВЕТСТВУЮЩИХ ИМ АРТЕФАКТОВ</a:t>
            </a:r>
            <a:endParaRPr i="1" sz="800">
              <a:solidFill>
                <a:schemeClr val="dk1"/>
              </a:solidFill>
            </a:endParaRPr>
          </a:p>
        </p:txBody>
      </p:sp>
      <p:graphicFrame>
        <p:nvGraphicFramePr>
          <p:cNvPr id="235" name="Google Shape;235;p30"/>
          <p:cNvGraphicFramePr/>
          <p:nvPr/>
        </p:nvGraphicFramePr>
        <p:xfrm>
          <a:off x="382422" y="2331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{2A8806B7-1CC3-45F2-A57A-C81C1C6ABB9F}</a:tableStyleId>
              </a:tblPr>
              <a:tblGrid>
                <a:gridCol w="975550"/>
                <a:gridCol w="3449300"/>
                <a:gridCol w="3623525"/>
              </a:tblGrid>
              <a:tr h="52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Уровень готовности технологии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Краткое описание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Артефакт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1-3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Формирование концепции, лабораторные исследования, создание макета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Научные статьи, отчеты о моделировании, письма заинтересованности от партнеров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4-6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Создание прототипа, подтверждение характеристик в лабораторных условиях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Фото/видео работающего лабораторного макета, протоколы успешных экспериментов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0D9"/>
                    </a:solidFill>
                  </a:tcPr>
                </a:tc>
              </a:tr>
              <a:tr h="34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Пилотирование проекта (опытные испытания)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Видеодемонстрация работы прототипа в промышленных условиях, отчет независимого тестирования.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Предсерийное производство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Calibri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Акт о завершении пилотного проекта, отзыв пилотного заказчика, данные о стабильности работы.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Серийное производство, коммерческое использование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Calibri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Контракты на продажу, фото серийного производства, отзывы клиентов.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1" name="Google Shape;241;p31"/>
          <p:cNvSpPr txBox="1"/>
          <p:nvPr/>
        </p:nvSpPr>
        <p:spPr>
          <a:xfrm>
            <a:off x="395007" y="1011725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chemeClr val="dk2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ПРОГРЕСС ЗА ВРЕМЯ АКСЕЛЕРАЦИИ</a:t>
            </a:r>
            <a:endParaRPr sz="8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406689" y="1599040"/>
            <a:ext cx="85440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aleway"/>
                <a:ea typeface="Raleway"/>
                <a:cs typeface="Raleway"/>
                <a:sym typeface="Raleway"/>
              </a:rPr>
              <a:t>Опишите чего удалось достигнуть за время акселерации относительно решения, партнерства, проработки бизнес-составляющей.</a:t>
            </a:r>
            <a:endParaRPr sz="800"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243" name="Google Shape;243;p31"/>
          <p:cNvGraphicFramePr/>
          <p:nvPr/>
        </p:nvGraphicFramePr>
        <p:xfrm>
          <a:off x="1169222" y="218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{80F287D7-C137-4E24-955F-E27BD1F2969A}</a:tableStyleId>
              </a:tblPr>
              <a:tblGrid>
                <a:gridCol w="2961275"/>
                <a:gridCol w="3457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2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До участия в акселерационной программе</a:t>
                      </a:r>
                      <a:endParaRPr sz="800">
                        <a:solidFill>
                          <a:schemeClr val="dk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2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После участия в акселерационной программе</a:t>
                      </a:r>
                      <a:endParaRPr sz="800">
                        <a:solidFill>
                          <a:schemeClr val="dk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2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AA"/>
                    </a:solidFill>
                  </a:tcPr>
                </a:tc>
              </a:tr>
              <a:tr h="43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Уровень готовности технологии - </a:t>
                      </a:r>
                      <a:endParaRPr sz="8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32C40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Уровень готовности технологии - </a:t>
                      </a:r>
                      <a:endParaRPr sz="8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32C40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Производственная готовность - </a:t>
                      </a:r>
                      <a:endParaRPr sz="8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(при наличии)</a:t>
                      </a:r>
                      <a:endParaRPr sz="1100">
                        <a:solidFill>
                          <a:srgbClr val="132C40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Производственная готовность - </a:t>
                      </a:r>
                      <a:endParaRPr sz="8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132C4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(при наличии)</a:t>
                      </a:r>
                      <a:endParaRPr sz="1100">
                        <a:solidFill>
                          <a:srgbClr val="132C40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Рыночная готовность -</a:t>
                      </a:r>
                      <a:endParaRPr sz="8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32C40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Рыночная готовность -</a:t>
                      </a:r>
                      <a:endParaRPr sz="8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32C40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Партнерства -</a:t>
                      </a:r>
                      <a:endParaRPr sz="8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32C40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Партнерства -</a:t>
                      </a:r>
                      <a:endParaRPr sz="8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32C40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9" name="Google Shape;249;p32"/>
          <p:cNvSpPr txBox="1"/>
          <p:nvPr/>
        </p:nvSpPr>
        <p:spPr>
          <a:xfrm>
            <a:off x="395007" y="1064614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chemeClr val="dk2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ЭКСПЕРТНОЕ ЗАКЛЮЧЕНИЕ</a:t>
            </a:r>
            <a:endParaRPr sz="8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50" name="Google Shape;250;p32"/>
          <p:cNvSpPr/>
          <p:nvPr/>
        </p:nvSpPr>
        <p:spPr>
          <a:xfrm>
            <a:off x="406708" y="2022151"/>
            <a:ext cx="7421100" cy="1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Raleway Medium"/>
                <a:ea typeface="Raleway Medium"/>
                <a:cs typeface="Raleway Medium"/>
                <a:sym typeface="Raleway Medium"/>
              </a:rPr>
              <a:t>Прикрепите комментарии экспертов по вашему проекту (не менее 5 заключений) – в экспертизе должно быть отражено: теоретическая реализуемость, коммерческий потенциал, соответствие основным научным принципам. </a:t>
            </a:r>
            <a:endParaRPr i="1" sz="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403346" y="3454060"/>
            <a:ext cx="50244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!ВАЖНО!</a:t>
            </a:r>
            <a:br>
              <a:rPr i="1" lang="ru">
                <a:latin typeface="Raleway"/>
                <a:ea typeface="Raleway"/>
                <a:cs typeface="Raleway"/>
                <a:sym typeface="Raleway"/>
              </a:rPr>
            </a:br>
            <a:r>
              <a:rPr i="1" lang="ru">
                <a:latin typeface="Raleway"/>
                <a:ea typeface="Raleway"/>
                <a:cs typeface="Raleway"/>
                <a:sym typeface="Raleway"/>
              </a:rPr>
              <a:t>Укажите ФИО эксперта и ссылку на профиль в ИС «Эксперты НТИ».</a:t>
            </a:r>
            <a:endParaRPr i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8F00FF"/>
      </a:dk1>
      <a:lt1>
        <a:srgbClr val="FFFFFF"/>
      </a:lt1>
      <a:dk2>
        <a:srgbClr val="000000"/>
      </a:dk2>
      <a:lt2>
        <a:srgbClr val="000000"/>
      </a:lt2>
      <a:accent1>
        <a:srgbClr val="FBB3C1"/>
      </a:accent1>
      <a:accent2>
        <a:srgbClr val="FCAF17"/>
      </a:accent2>
      <a:accent3>
        <a:srgbClr val="FD493D"/>
      </a:accent3>
      <a:accent4>
        <a:srgbClr val="DBE6FD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